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7CB342"/>
                </a:solidFill>
                <a:latin typeface="Menlo"/>
              </a:rPr>
              <a:t>PRODUCTION METHODOLOGY  ·  BUILD STATUS 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800" b="1">
                <a:solidFill>
                  <a:srgbClr val="F5EFE0"/>
                </a:solidFill>
                <a:latin typeface="Helvetica Neue"/>
              </a:rPr>
              <a:t>Shipping the Two-Interface Results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>
                <a:solidFill>
                  <a:srgbClr val="B8B0A0"/>
                </a:solidFill>
                <a:latin typeface="Helvetica Neue"/>
              </a:rPr>
              <a:t>Original methodology (May 15) called for Phase 1 first.
We built Phases 3 + 4 + part of 2 instead, and skipped Phase 1.
v3: live on Vercel, strict TS green, duplicate leads now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CB342"/>
                </a:solidFill>
                <a:latin typeface="Menlo"/>
              </a:rPr>
              <a:t>Saggy Outrank Audit  ·  A3 Brands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706A5E"/>
                </a:solidFill>
                <a:latin typeface="Menlo"/>
              </a:rPr>
              <a:t>Updated 2026-05-19  ·  vercel auto-deploy  ·  strict typescript  ·  dedup by email +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02  ·  AS OF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What's live, what's halfway, what's still leaking.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657600" cy="4572000"/>
          </a:xfrm>
          <a:prstGeom prst="roundRect">
            <a:avLst>
              <a:gd name="adj" fmla="val 6000"/>
            </a:avLst>
          </a:prstGeom>
          <a:solidFill>
            <a:srgbClr val="122C1B"/>
          </a:solidFill>
          <a:ln w="1524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7CB342"/>
                </a:solidFill>
                <a:latin typeface="Helvetica Neue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85623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3108960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Next.js App Router + TypeScript port (in-place).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tsconfig strict:true — discriminated unions narrow correctly.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Server-side audit at /api/audit.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Firecrawl LLM scoring (v2/scrape · json extract).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Local analyzer fallback (regex over fetched HTML).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Seeded fallback for bot-blocked sites.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24h disk cache at data/audit-cache.json.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Lead persistence /api/leads (POST · GET · DELETE).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Status workflow + PATCH /api/leads/[id].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Sales console with redesigned lead-detail modal.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Trade-area volume varies by city + make.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Duplicate-lead guard: 409 + field on email or name match.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GHL webhook fires only on save success — no dup double-posts.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7CB3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Vercel auto-deploy from main (a3brands_analyzer repo).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657600" cy="4572000"/>
          </a:xfrm>
          <a:prstGeom prst="roundRect">
            <a:avLst>
              <a:gd name="adj" fmla="val 6000"/>
            </a:avLst>
          </a:prstGeom>
          <a:solidFill>
            <a:srgbClr val="2A2210"/>
          </a:solidFill>
          <a:ln w="1524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288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E2A05A"/>
                </a:solidFill>
                <a:latin typeface="Helvetica Neue"/>
              </a:rPr>
              <a:t>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85623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2A05A"/>
                </a:solidFill>
                <a:latin typeface="Menlo"/>
              </a:rP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3108960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2A05A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Phase 2 persistence: NOW live on Vercel — JSON file store will not survive cold starts. Migration is urgent.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2A05A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Sales tooling: dashboard + status workflow shipped, but no auth gating yet.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2A05A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Audit cache is per-machine — multi-rep deploys will need a real KV / Supabase store.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2A05A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FIRECRAWL_API_KEY now set in Vercel; no rate limit or daily ceiling guards the endpoint.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91640"/>
            <a:ext cx="3657600" cy="4572000"/>
          </a:xfrm>
          <a:prstGeom prst="roundRect">
            <a:avLst>
              <a:gd name="adj" fmla="val 6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E05A42"/>
                </a:solidFill>
                <a:latin typeface="Helvetica Neue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185623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286000"/>
            <a:ext cx="3108960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05A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Phase 1 leak: ?view=sales is unauthed.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05A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/api/leads has no auth — anyone can GET, PATCH, or DELETE every lead.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05A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Lead browser still receives full payload; no server-side trimming.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05A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No tokenized /r/&lt;token&gt; URLs for lead-facing reports.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05A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No audit log of who pulled which lead (report_views).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E05A42"/>
                </a:solidFill>
                <a:latin typeface="Menlo"/>
              </a:rPr>
              <a:t>→  </a:t>
            </a:r>
            <a:r>
              <a:rPr sz="1250">
                <a:solidFill>
                  <a:srgbClr val="F5EFE0"/>
                </a:solidFill>
                <a:latin typeface="Helvetica Neue"/>
              </a:rPr>
              <a:t>Email delivery still uses placeholder GHL webhook.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v3: deploy is live — persistence + auth are now production gaps, not roadmap items.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03  · 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The flaw we have to fix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80015" y="5029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80015" y="502920"/>
            <a:ext cx="15544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05A42"/>
                </a:solidFill>
                <a:latin typeface="Menlo"/>
              </a:rPr>
              <a:t>TODAY — STILL UNFIXED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F5EFE0"/>
                </a:solidFill>
                <a:latin typeface="Helvetica Neue"/>
              </a:rPr>
              <a:t>?view=sales is a CSS toggle.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512064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05A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Every lead still receives the full sales-only HTML.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05A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display:none is the only thing hiding gap math + fixes.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05A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DevTools → unhide → read the whole report.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05A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And /api/leads is also unauthed — same class of leak.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PRODUCTION 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F5EFE0"/>
                </a:solidFill>
                <a:latin typeface="Helvetica Neue"/>
              </a:rPr>
              <a:t>Sales content never leaves the server.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26080"/>
            <a:ext cx="512064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Lead browser receives only the trimmed payload.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Sales view + sales APIs live behind authentication.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Server decides what to render based on viewer role.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Menlo"/>
              </a:rPr>
              <a:t>→  </a:t>
            </a:r>
            <a:r>
              <a:rPr sz="1500">
                <a:solidFill>
                  <a:srgbClr val="F5EFE0"/>
                </a:solidFill>
                <a:latin typeface="Helvetica Neue"/>
              </a:rPr>
              <a:t>CSS is a UX layer — not a permission boundary.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04  · 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What we're protecting, and from whom.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80015" y="5029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80015" y="502920"/>
            <a:ext cx="15544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ASSET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78308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MITIGATION TIER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02416"/>
          </a:solidFill>
          <a:ln w="63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Fix recommendations + gap math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468880"/>
            <a:ext cx="4297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Lead self-serves and skips the strategy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468880"/>
            <a:ext cx="3108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HIGH  —  server-gated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02416"/>
          </a:solidFill>
          <a:ln w="63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Cost-model logic (CTR × volume × CPL)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83280"/>
            <a:ext cx="4297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Competitor scrapes our methodology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383280"/>
            <a:ext cx="3108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MED   —  keep server-side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02416"/>
          </a:solidFill>
          <a:ln w="63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Lead PII (name · email · phone)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297680"/>
            <a:ext cx="4297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Any visitor GETs /api/leads in plaintext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297680"/>
            <a:ext cx="3108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HIGH  —  auth required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102416"/>
          </a:solidFill>
          <a:ln w="63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Sales rep identity / activity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5212080"/>
            <a:ext cx="4297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EFE0"/>
                </a:solidFill>
                <a:latin typeface="Helvetica Neue"/>
              </a:rPr>
              <a:t>Lead identifies who pulled their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LOW   —  internal audit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264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Two HIGH-tier assets are currently public. Both fall to a Vercel Password Protect wrapper.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05  ·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What's actually wired (and the auth gap).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45775" y="5029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A2210"/>
          </a:solidFill>
          <a:ln w="1524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5775" y="502920"/>
            <a:ext cx="1188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2A05A"/>
                </a:solidFill>
                <a:latin typeface="Menlo"/>
              </a:rPr>
              <a:t>PARTIAL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310896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3108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Lead browser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form · audit ·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1737360"/>
            <a:ext cx="310896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737360"/>
            <a:ext cx="3108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Sales console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?view=sales · ⚠ unauthed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080"/>
            <a:ext cx="3108960" cy="777240"/>
          </a:xfrm>
          <a:prstGeom prst="roundRect">
            <a:avLst>
              <a:gd name="adj" fmla="val 14000"/>
            </a:avLst>
          </a:prstGeom>
          <a:solidFill>
            <a:srgbClr val="122C1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3108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POST /api/audit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Next.js route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926080"/>
            <a:ext cx="3291840" cy="777240"/>
          </a:xfrm>
          <a:prstGeom prst="roundRect">
            <a:avLst>
              <a:gd name="adj" fmla="val 14000"/>
            </a:avLst>
          </a:prstGeom>
          <a:solidFill>
            <a:srgbClr val="122C1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926080"/>
            <a:ext cx="3291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POST /api/leads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validate + persist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926080"/>
            <a:ext cx="3108960" cy="777240"/>
          </a:xfrm>
          <a:prstGeom prst="roundRect">
            <a:avLst>
              <a:gd name="adj" fmla="val 14000"/>
            </a:avLst>
          </a:prstGeom>
          <a:solidFill>
            <a:srgbClr val="122C1B"/>
          </a:solidFill>
          <a:ln w="1270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926080"/>
            <a:ext cx="3108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GET / PATCH / DELETE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/api/leads · ⚠ unauthed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60520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Firecrawl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v2/scrape · LLM extract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160520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B8B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416052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Local analyzer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regex over HTML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4160520"/>
            <a:ext cx="219456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B8B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416052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Seeded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urlSeed fallback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94960"/>
            <a:ext cx="347472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3474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data/audit-cache.json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24h TTL · per-machine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5394960"/>
            <a:ext cx="3291840" cy="777240"/>
          </a:xfrm>
          <a:prstGeom prst="roundRect">
            <a:avLst>
              <a:gd name="adj" fmla="val 14000"/>
            </a:avLst>
          </a:prstGeom>
          <a:solidFill>
            <a:srgbClr val="102416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5394960"/>
            <a:ext cx="3291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EFE0"/>
                </a:solidFill>
                <a:latin typeface="Helvetica Neue"/>
              </a:rPr>
              <a:t>data/leads.json</a:t>
            </a:r>
          </a:p>
          <a:p>
            <a:pPr algn="ctr"/>
            <a:r>
              <a:rPr sz="900">
                <a:solidFill>
                  <a:srgbClr val="B8B0A0"/>
                </a:solidFill>
                <a:latin typeface="Menlo"/>
              </a:rPr>
              <a:t>Lead[] · per-machine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103120" y="2514600"/>
            <a:ext cx="0" cy="41148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80160" y="2574036"/>
            <a:ext cx="1645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B8B0A0"/>
                </a:solidFill>
                <a:latin typeface="Menlo"/>
              </a:rPr>
              <a:t>scan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103120" y="2514600"/>
            <a:ext cx="3977640" cy="41148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268980" y="2574036"/>
            <a:ext cx="1645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B8B0A0"/>
                </a:solidFill>
                <a:latin typeface="Menlo"/>
              </a:rPr>
              <a:t>lead submit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058400" y="2514600"/>
            <a:ext cx="0" cy="411480"/>
          </a:xfrm>
          <a:prstGeom prst="line">
            <a:avLst/>
          </a:prstGeom>
          <a:ln w="13970">
            <a:solidFill>
              <a:srgbClr val="E05A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235440" y="2574036"/>
            <a:ext cx="1645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B8B0A0"/>
                </a:solidFill>
                <a:latin typeface="Menlo"/>
              </a:rPr>
              <a:t>read · mutate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371600" y="3703320"/>
            <a:ext cx="320040" cy="45720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103120" y="3703320"/>
            <a:ext cx="2057400" cy="45720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43200" y="3703320"/>
            <a:ext cx="3840480" cy="45720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86000" y="4937760"/>
            <a:ext cx="0" cy="45720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63040" y="5020056"/>
            <a:ext cx="1645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B8B0A0"/>
                </a:solidFill>
                <a:latin typeface="Menlo"/>
              </a:rPr>
              <a:t>write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80760" y="3703320"/>
            <a:ext cx="0" cy="1691640"/>
          </a:xfrm>
          <a:prstGeom prst="line">
            <a:avLst/>
          </a:prstGeom>
          <a:ln w="13970">
            <a:solidFill>
              <a:srgbClr val="7C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57800" y="4402836"/>
            <a:ext cx="1645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B8B0A0"/>
                </a:solidFill>
                <a:latin typeface="Menlo"/>
              </a:rPr>
              <a:t>append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Red boxes = unauthed and externally reachable. Same code, just needs Vercel Password Protect on the /api/leads + sales routes.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06  ·  SALES 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Three options, ordered by effort.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80015" y="5029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80015" y="502920"/>
            <a:ext cx="15544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7315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7CB342"/>
                </a:solidFill>
                <a:latin typeface="Menl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93392"/>
            <a:ext cx="6858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Vercel Password Protect / Cloudflare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23160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Wraps /sales/* and /api/leads/*. SSO with Google Workspace.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29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>
                <a:solidFill>
                  <a:srgbClr val="7CB342"/>
                </a:solidFill>
                <a:latin typeface="Menlo"/>
              </a:rPr>
              <a:t>~30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4231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7CB342"/>
                </a:solidFill>
                <a:latin typeface="Menlo"/>
              </a:rPr>
              <a:t>RECOMMENDED — DO THIS 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6350">
            <a:solidFill>
              <a:srgbClr val="70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80"/>
            <a:ext cx="7315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7CB342"/>
                </a:solidFill>
                <a:latin typeface="Menl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364992"/>
            <a:ext cx="6858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Magic-link email 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794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@a3brands.com email → 15-minute signed link.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4015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>
                <a:solidFill>
                  <a:srgbClr val="7CB342"/>
                </a:solidFill>
                <a:latin typeface="Menlo"/>
              </a:rPr>
              <a:t>~half a 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706A5E"/>
                </a:solidFill>
                <a:latin typeface="Menlo"/>
              </a:rPr>
              <a:t>Phase 2 upgrade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200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6350">
            <a:solidFill>
              <a:srgbClr val="70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54880"/>
            <a:ext cx="7315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7CB342"/>
                </a:solidFill>
                <a:latin typeface="Menl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736592"/>
            <a:ext cx="6858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Session auth with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166360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Clerk / Auth0 + RBAC.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7731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>
                <a:solidFill>
                  <a:srgbClr val="7CB342"/>
                </a:solidFill>
                <a:latin typeface="Menlo"/>
              </a:rPr>
              <a:t>~1 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1663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706A5E"/>
                </a:solidFill>
                <a:latin typeface="Menlo"/>
              </a:rPr>
              <a:t>Defer until &gt;5 reps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None of the three is built yet. The sales-only HTML and PII at /api/leads remain publicly reachable.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07  ·  URL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Tokenize the lead link. Always.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80015" y="5029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80015" y="502920"/>
            <a:ext cx="15544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05A42"/>
                </a:solidFill>
                <a:latin typeface="Menlo"/>
              </a:rPr>
              <a:t>TODAY — NO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51206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F5EFE0"/>
                </a:solidFill>
                <a:latin typeface="Menlo"/>
              </a:rPr>
              <a:t>/?view=sales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51206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05A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Query-param toggle, anyone can flip it.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05A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Lead reports have no shareable URL at all.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05A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No expiry, no revoke, no per-lead access.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51206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5EFE0"/>
                </a:solidFill>
                <a:latin typeface="Menlo"/>
              </a:rPr>
              <a:t>/r/k8x2q9vN_aPzL3RfH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17520"/>
            <a:ext cx="51206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7CB3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128-bit opaque token — unguessable.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7CB3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Server maps token → lead internally.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7CB3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Tokens expire after 30 days, redirect to 'book a call'.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7CB342"/>
                </a:solidFill>
                <a:latin typeface="Menlo"/>
              </a:rPr>
              <a:t>→  </a:t>
            </a:r>
            <a:r>
              <a:rPr sz="1400">
                <a:solidFill>
                  <a:srgbClr val="F5EFE0"/>
                </a:solidFill>
                <a:latin typeface="Helvetica Neue"/>
              </a:rPr>
              <a:t>Sales reads via /sales/&lt;id&gt; behind auth — internal id fine.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Builds on storage.ts already in the repo — Lead.id is a UUID, just need a separate lead_token column.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08  ·  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What's persisted today (and what's missing).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45775" y="5029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A2210"/>
          </a:solidFill>
          <a:ln w="1524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5775" y="502920"/>
            <a:ext cx="1188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2A05A"/>
                </a:solidFill>
                <a:latin typeface="Menlo"/>
              </a:rPr>
              <a:t>PARTIAL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7315200" cy="21945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BUILT — data/leads.json  (type Lead in storage.ts)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6949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{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  id, ts, status: 'pending' | 'confirmed' | 'cancelled',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  name, dealership, email, phone,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  url, city, make,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  estimatedRank, monthlyDamage, monthlyLostLeads, monthlyLostClicks,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  yourScores, competitorScores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F5EFE0"/>
                </a:solidFill>
                <a:latin typeface="Menlo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7315200" cy="21945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BUILT — data/audit-cache.json  (24h TTL keyed by url)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6949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{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"https://bmwofsouthatlanta.com/": {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  ts: 1779165432110,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  data: {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    seo, aeo, geo, total, source: 'firecrawl' | 'analyzer' | 'seeded',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    reasoning: { seo, aeo, geo }  // when firecrawl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  }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  }, ...</a:t>
            </a:r>
          </a:p>
          <a:p>
            <a:pPr>
              <a:lnSpc>
                <a:spcPct val="105000"/>
              </a:lnSpc>
            </a:pPr>
            <a:r>
              <a:rPr sz="1150">
                <a:solidFill>
                  <a:srgbClr val="F5EFE0"/>
                </a:solidFill>
                <a:latin typeface="Menlo"/>
              </a:rP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83080"/>
            <a:ext cx="3657600" cy="452628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2A05A"/>
                </a:solidFill>
                <a:latin typeface="Menlo"/>
              </a:rPr>
              <a:t>STILL TO ADD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86000"/>
            <a:ext cx="3383280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7CB342"/>
                </a:solidFill>
                <a:latin typeface="Menlo"/>
              </a:rPr>
              <a:t>→  </a:t>
            </a:r>
            <a:r>
              <a:rPr sz="1200">
                <a:solidFill>
                  <a:srgbClr val="F5EFE0"/>
                </a:solidFill>
                <a:latin typeface="Helvetica Neue"/>
              </a:rPr>
              <a:t>Dedup: findDuplicateLead() blocks same email or name (case-insensitive). 409 + field surfaced to UI.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7CB342"/>
                </a:solidFill>
                <a:latin typeface="Menlo"/>
              </a:rPr>
              <a:t>→  </a:t>
            </a:r>
            <a:r>
              <a:rPr sz="1200">
                <a:solidFill>
                  <a:srgbClr val="F5EFE0"/>
                </a:solidFill>
                <a:latin typeface="Helvetica Neue"/>
              </a:rPr>
              <a:t>lead_token (text unique) — for /r/&lt;token&gt;.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7CB342"/>
                </a:solidFill>
                <a:latin typeface="Menlo"/>
              </a:rPr>
              <a:t>→  </a:t>
            </a:r>
            <a:r>
              <a:rPr sz="1200">
                <a:solidFill>
                  <a:srgbClr val="F5EFE0"/>
                </a:solidFill>
                <a:latin typeface="Helvetica Neue"/>
              </a:rPr>
              <a:t>report_views table — who pulled what.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7CB342"/>
                </a:solidFill>
                <a:latin typeface="Menlo"/>
              </a:rPr>
              <a:t>→  </a:t>
            </a:r>
            <a:r>
              <a:rPr sz="1200">
                <a:solidFill>
                  <a:srgbClr val="F5EFE0"/>
                </a:solidFill>
                <a:latin typeface="Helvetica Neue"/>
              </a:rPr>
              <a:t>ghl_synced_at — retry CRM pushes without dupes.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7CB342"/>
                </a:solidFill>
                <a:latin typeface="Menlo"/>
              </a:rPr>
              <a:t>→  </a:t>
            </a:r>
            <a:r>
              <a:rPr sz="1200">
                <a:solidFill>
                  <a:srgbClr val="F5EFE0"/>
                </a:solidFill>
                <a:latin typeface="Helvetica Neue"/>
              </a:rPr>
              <a:t>Move both files to Supabase / Vercel Postgres for any deploy.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8B0A0"/>
                </a:solidFill>
                <a:latin typeface="Helvetica Neue"/>
              </a:rPr>
              <a:t>JSON files work in dev; Vercel serverless filesystem is read-only — first deploy will break persistence.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09  ·  PAYLOAD TRIMMING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Still serving the full thing to both views.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80015" y="5029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80015" y="502920"/>
            <a:ext cx="15544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9525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05A42"/>
                </a:solidFill>
                <a:latin typeface="Menlo"/>
              </a:rPr>
              <a:t>TODAY — GET /api/leads (unauthed)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8B0A0"/>
                </a:solidFill>
                <a:latin typeface="Helvetica Neue"/>
              </a:rPr>
              <a:t>Lead + sales receive the same JSON.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5EFE0"/>
                </a:solidFill>
                <a:latin typeface="Menlo"/>
              </a:rPr>
              <a:t>{ leads: [ {</a:t>
            </a:r>
          </a:p>
          <a:p>
            <a:r>
              <a:rPr sz="1300">
                <a:solidFill>
                  <a:srgbClr val="F5EFE0"/>
                </a:solidFill>
                <a:latin typeface="Menlo"/>
              </a:rPr>
              <a:t>  id, ts, status,</a:t>
            </a:r>
          </a:p>
          <a:p>
            <a:r>
              <a:rPr sz="1300">
                <a:solidFill>
                  <a:srgbClr val="F5EFE0"/>
                </a:solidFill>
                <a:latin typeface="Menlo"/>
              </a:rPr>
              <a:t>  name, dealership, email, phone,    // PII</a:t>
            </a:r>
          </a:p>
          <a:p>
            <a:r>
              <a:rPr sz="1300">
                <a:solidFill>
                  <a:srgbClr val="F5EFE0"/>
                </a:solidFill>
                <a:latin typeface="Menlo"/>
              </a:rPr>
              <a:t>  url, city, make,</a:t>
            </a:r>
          </a:p>
          <a:p>
            <a:r>
              <a:rPr sz="1300">
                <a:solidFill>
                  <a:srgbClr val="F5EFE0"/>
                </a:solidFill>
                <a:latin typeface="Menlo"/>
              </a:rPr>
              <a:t>  estimatedRank, monthlyDamage, ...   // audit</a:t>
            </a:r>
          </a:p>
          <a:p>
            <a:r>
              <a:rPr sz="1300">
                <a:solidFill>
                  <a:srgbClr val="F5EFE0"/>
                </a:solidFill>
                <a:latin typeface="Menlo"/>
              </a:rPr>
              <a:t>  yourScores, competitorScores       // gap analysis</a:t>
            </a:r>
          </a:p>
          <a:p>
            <a:r>
              <a:rPr sz="1300">
                <a:solidFill>
                  <a:srgbClr val="F5EFE0"/>
                </a:solidFill>
                <a:latin typeface="Menlo"/>
              </a:rPr>
              <a:t>} ]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E05A42"/>
                </a:solidFill>
                <a:latin typeface="Menlo"/>
              </a:rPr>
              <a:t>Same shape leaks PII + methodology to lead browser.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GOAL — split into two endpoints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8B0A0"/>
                </a:solidFill>
                <a:latin typeface="Helvetica Neue"/>
              </a:rPr>
              <a:t>Sales JSON keeps all fields. Lead JSON keeps the report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5EFE0"/>
                </a:solidFill>
                <a:latin typeface="Menlo"/>
              </a:rPr>
              <a:t>GET /api/report/:token     (lead — public, narrow)</a:t>
            </a:r>
          </a:p>
          <a:p>
            <a:r>
              <a:rPr sz="1200">
                <a:solidFill>
                  <a:srgbClr val="F5EFE0"/>
                </a:solidFill>
                <a:latin typeface="Menlo"/>
              </a:rPr>
              <a:t>  → { band, damage, verdict, leaderboard, city }</a:t>
            </a:r>
          </a:p>
          <a:p>
            <a:r>
              <a:rPr sz="1200">
                <a:solidFill>
                  <a:srgbClr val="F5EFE0"/>
                </a:solidFill>
                <a:latin typeface="Menlo"/>
              </a:rPr>
              <a:t/>
            </a:r>
          </a:p>
          <a:p>
            <a:r>
              <a:rPr sz="1200">
                <a:solidFill>
                  <a:srgbClr val="F5EFE0"/>
                </a:solidFill>
                <a:latin typeface="Menlo"/>
              </a:rPr>
              <a:t>GET /api/leads/:id         (sales — auth required)</a:t>
            </a:r>
          </a:p>
          <a:p>
            <a:r>
              <a:rPr sz="1200">
                <a:solidFill>
                  <a:srgbClr val="F5EFE0"/>
                </a:solidFill>
                <a:latin typeface="Menlo"/>
              </a:rPr>
              <a:t>  → full Lead record (current shape)</a:t>
            </a:r>
          </a:p>
          <a:p>
            <a:r>
              <a:rPr sz="1200">
                <a:solidFill>
                  <a:srgbClr val="F5EFE0"/>
                </a:solidFill>
                <a:latin typeface="Menlo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7607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CB342"/>
                </a:solidFill>
                <a:latin typeface="Menlo"/>
              </a:rPr>
              <a:t>Trim on the server — not in the browser.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10  ·  WHERE THE AUDIT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Done — moved server-side with a 3-tier fallback.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45775" y="5029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22C1B"/>
          </a:solidFill>
          <a:ln w="1524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5775" y="502920"/>
            <a:ext cx="1188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7CB342"/>
                </a:solidFill>
                <a:latin typeface="Menlo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24712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7CB342"/>
                </a:solidFill>
                <a:latin typeface="Menlo"/>
              </a:rPr>
              <a:t>→  </a:t>
            </a:r>
            <a:r>
              <a:rPr sz="1450">
                <a:solidFill>
                  <a:srgbClr val="F5EFE0"/>
                </a:solidFill>
                <a:latin typeface="Helvetica Neue"/>
              </a:rPr>
              <a:t>All scoring now lives at /api/audit (server-side). The browser only owns form + theatre + render.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7CB342"/>
                </a:solidFill>
                <a:latin typeface="Menlo"/>
              </a:rPr>
              <a:t>→  </a:t>
            </a:r>
            <a:r>
              <a:rPr sz="1450">
                <a:solidFill>
                  <a:srgbClr val="F5EFE0"/>
                </a:solidFill>
                <a:latin typeface="Helvetica Neue"/>
              </a:rPr>
              <a:t>Primary path: Firecrawl /v2/scrape with the json extract format — LLM rates SEO / AEO / GEO directly.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7CB342"/>
                </a:solidFill>
                <a:latin typeface="Menlo"/>
              </a:rPr>
              <a:t>→  </a:t>
            </a:r>
            <a:r>
              <a:rPr sz="1450">
                <a:solidFill>
                  <a:srgbClr val="F5EFE0"/>
                </a:solidFill>
                <a:latin typeface="Helvetica Neue"/>
              </a:rPr>
              <a:t>Fallback 1: local analyzer at app/lib/analyzer.ts — server-fetches HTML and scores 23 regex signals.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7CB342"/>
                </a:solidFill>
                <a:latin typeface="Menlo"/>
              </a:rPr>
              <a:t>→  </a:t>
            </a:r>
            <a:r>
              <a:rPr sz="1450">
                <a:solidFill>
                  <a:srgbClr val="F5EFE0"/>
                </a:solidFill>
                <a:latin typeface="Helvetica Neue"/>
              </a:rPr>
              <a:t>Fallback 2: seeded urlSeed scores — deterministic per URL, used when the site blocks bots entirely.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7CB342"/>
                </a:solidFill>
                <a:latin typeface="Menlo"/>
              </a:rPr>
              <a:t>→  </a:t>
            </a:r>
            <a:r>
              <a:rPr sz="1450">
                <a:solidFill>
                  <a:srgbClr val="F5EFE0"/>
                </a:solidFill>
                <a:latin typeface="Helvetica Neue"/>
              </a:rPr>
              <a:t>Cached at data/audit-cache.json keyed by URL with 24h TTL — same site = same score within the window.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7CB342"/>
                </a:solidFill>
                <a:latin typeface="Menlo"/>
              </a:rPr>
              <a:t>→  </a:t>
            </a:r>
            <a:r>
              <a:rPr sz="1450">
                <a:solidFill>
                  <a:srgbClr val="F5EFE0"/>
                </a:solidFill>
                <a:latin typeface="Helvetica Neue"/>
              </a:rPr>
              <a:t>CPL benchmark, CTR curve, trade-area volume now derived per (city, make) — no constants in browser JS.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8B0A0"/>
                </a:solidFill>
                <a:latin typeface="Menlo"/>
              </a:rPr>
              <a:t>Files: app/api/audit/route.ts · app/lib/firecrawl.ts · app/lib/analyzer.ts · app/lib/audit.ts (browser).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11  ·  ROLLOUT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Plan vs. reality.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2A1210"/>
          </a:solidFill>
          <a:ln w="1524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56232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05A42"/>
                </a:solidFill>
                <a:latin typeface="Menl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E05A42"/>
                </a:solidFill>
                <a:latin typeface="Menlo"/>
              </a:rPr>
              <a:t>STILL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82880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Stop the leak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94560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>
                <a:solidFill>
                  <a:srgbClr val="B8B0A0"/>
                </a:solidFill>
                <a:latin typeface="Helvetica Neue"/>
              </a:rPr>
              <a:t>Conditional render of sales blocks. Vercel Password Protect on /sales/* + /api/leads/*. NOT YET BUILT.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2A2210"/>
          </a:solidFill>
          <a:ln w="1524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2A05A"/>
                </a:solidFill>
                <a:latin typeface="Menlo"/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E2A05A"/>
                </a:solidFill>
                <a:latin typeface="Menlo"/>
              </a:rPr>
              <a:t>PARTIAL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92608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Persist + tokenize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291840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>
                <a:solidFill>
                  <a:srgbClr val="B8B0A0"/>
                </a:solidFill>
                <a:latin typeface="Helvetica Neue"/>
              </a:rPr>
              <a:t>/api/leads (POST · GET · PATCH · DELETE) shipped against data/leads.json. Tokenized /r/&lt;token&gt; URLs not yet built. Storage still local-only.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122C1B"/>
          </a:solidFill>
          <a:ln w="1524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50792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Menlo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61688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7CB342"/>
                </a:solidFill>
                <a:latin typeface="Menlo"/>
              </a:rPr>
              <a:t>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02336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Server-side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389120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>
                <a:solidFill>
                  <a:srgbClr val="B8B0A0"/>
                </a:solidFill>
                <a:latin typeface="Helvetica Neue"/>
              </a:rPr>
              <a:t>Audit moved to /api/audit with Firecrawl LLM scoring, local analyzer fallback, seeded fallback, and 24h disk cache.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2A2210"/>
          </a:solidFill>
          <a:ln w="1524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48072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2A05A"/>
                </a:solidFill>
                <a:latin typeface="Menlo"/>
              </a:rPr>
              <a:t>PHASE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E2A05A"/>
                </a:solidFill>
                <a:latin typeface="Menlo"/>
              </a:rPr>
              <a:t>PARTIAL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512064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5EFE0"/>
                </a:solidFill>
                <a:latin typeface="Helvetica Neue"/>
              </a:rPr>
              <a:t>Sales tooling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486400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>
                <a:solidFill>
                  <a:srgbClr val="B8B0A0"/>
                </a:solidFill>
                <a:latin typeface="Helvetica Neue"/>
              </a:rPr>
              <a:t>Console dashboard, redesigned lead-detail modal, status workflow (pending · confirmed · cancelled), kebab dropdown shipped. CRM deep-links + activity audit still open.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We went 3 → 4 → ½ of 2 → still need 1. That's fine — but Phase 1 must close before any deploy.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12  ·  DECISIONS — RESOLVED VS.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Where each call landed since v1.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122C1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7CB342"/>
                </a:solidFill>
                <a:latin typeface="Helvetica Neue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5564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5EFE0"/>
                </a:solidFill>
                <a:latin typeface="Helvetica Neue"/>
              </a:rPr>
              <a:t>Hosting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783080"/>
            <a:ext cx="7223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Vercel (Next.js scaffold + .vercelignore in repo).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450592"/>
            <a:ext cx="457200" cy="457200"/>
          </a:xfrm>
          <a:prstGeom prst="ellipse">
            <a:avLst/>
          </a:prstGeom>
          <a:solidFill>
            <a:srgbClr val="122C1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7CB342"/>
                </a:solidFill>
                <a:latin typeface="Helvetica Neue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8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5EFE0"/>
                </a:solidFill>
                <a:latin typeface="Helvetica Neue"/>
              </a:rPr>
              <a:t>Audit scoring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496312"/>
            <a:ext cx="7223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Firecrawl /v2/scrape · json extract (LLM-rated).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163824"/>
            <a:ext cx="457200" cy="457200"/>
          </a:xfrm>
          <a:prstGeom prst="ellipse">
            <a:avLst/>
          </a:prstGeom>
          <a:solidFill>
            <a:srgbClr val="122C1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7CB342"/>
                </a:solidFill>
                <a:latin typeface="Helvetica Neue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18211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5EFE0"/>
                </a:solidFill>
                <a:latin typeface="Helvetica Neue"/>
              </a:rPr>
              <a:t>Local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209544"/>
            <a:ext cx="7223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JSON files in data/ — dev only. Supabase before deploy.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77056"/>
            <a:ext cx="457200" cy="457200"/>
          </a:xfrm>
          <a:prstGeom prst="ellipse">
            <a:avLst/>
          </a:prstGeom>
          <a:solidFill>
            <a:srgbClr val="122C1B"/>
          </a:solidFill>
          <a:ln w="1270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77056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E2A05A"/>
                </a:solidFill>
                <a:latin typeface="Helvetica Neue"/>
              </a:rPr>
              <a:t>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95344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5EFE0"/>
                </a:solidFill>
                <a:latin typeface="Helvetica Neue"/>
              </a:rPr>
              <a:t>Sales auth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922776"/>
            <a:ext cx="7223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Still open — Google Workspace likely candidate.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590288"/>
            <a:ext cx="457200" cy="457200"/>
          </a:xfrm>
          <a:prstGeom prst="ellipse">
            <a:avLst/>
          </a:prstGeom>
          <a:solidFill>
            <a:srgbClr val="122C1B"/>
          </a:solidFill>
          <a:ln w="1270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E2A05A"/>
                </a:solidFill>
                <a:latin typeface="Helvetica Neue"/>
              </a:rPr>
              <a:t>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08576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5EFE0"/>
                </a:solidFill>
                <a:latin typeface="Helvetica Neue"/>
              </a:rPr>
              <a:t>Lead-link sharing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636008"/>
            <a:ext cx="7223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Still open — forwardable vs one-time-use.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122C1B"/>
          </a:solidFill>
          <a:ln w="12700">
            <a:solidFill>
              <a:srgbClr val="E2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E2A05A"/>
                </a:solidFill>
                <a:latin typeface="Helvetica Neue"/>
              </a:rPr>
              <a:t>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32180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5EFE0"/>
                </a:solidFill>
                <a:latin typeface="Helvetica Neue"/>
              </a:rPr>
              <a:t>Email delivery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5349240"/>
            <a:ext cx="7223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Still open — GHL webhook placeholder is firing; no transactional sender.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>
                <a:solidFill>
                  <a:srgbClr val="B8B0A0"/>
                </a:solidFill>
                <a:latin typeface="Helvetica Neue"/>
              </a:rPr>
              <a:t>Three resolved, three open. None of the open ones blocks Phase 1.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7CB342"/>
                </a:solidFill>
                <a:latin typeface="Menlo"/>
              </a:rPr>
              <a:t>SLIDE 13  ·  SCOPE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5EFE0"/>
                </a:solidFill>
                <a:latin typeface="Helvetica Neue"/>
              </a:rPr>
              <a:t>Still NOT building.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20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762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E05A42"/>
                </a:solidFill>
                <a:latin typeface="Helvetica Neue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38528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5EFE0"/>
                </a:solidFill>
                <a:latin typeface="Helvetica Neue"/>
              </a:rPr>
              <a:t>Full RBAC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993392"/>
            <a:ext cx="6400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B8B0A0"/>
                </a:solidFill>
                <a:latin typeface="Helvetica Neue"/>
              </a:rPr>
              <a:t>Two roles — lead, sales. Hardcode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762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53512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E05A42"/>
                </a:solidFill>
                <a:latin typeface="Helvetica Neue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98648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5EFE0"/>
                </a:solidFill>
                <a:latin typeface="Helvetica Neue"/>
              </a:rPr>
              <a:t>Admin UI for editing 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953512"/>
            <a:ext cx="6400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B8B0A0"/>
                </a:solidFill>
                <a:latin typeface="Helvetica Neue"/>
              </a:rPr>
              <a:t>GHL / the CRM owns follow-up content.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4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762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13632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E05A42"/>
                </a:solidFill>
                <a:latin typeface="Helvetica Neue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58768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5EFE0"/>
                </a:solidFill>
                <a:latin typeface="Helvetica Neue"/>
              </a:rPr>
              <a:t>Real-time updates / websockets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913632"/>
            <a:ext cx="6400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B8B0A0"/>
                </a:solidFill>
                <a:latin typeface="Helvetica Neue"/>
              </a:rPr>
              <a:t>Reports are point-in-time snapshots.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091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7620">
            <a:solidFill>
              <a:srgbClr val="E05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73752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E05A42"/>
                </a:solidFill>
                <a:latin typeface="Helvetica Neue"/>
              </a:rPr>
              <a:t>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5EFE0"/>
                </a:solidFill>
                <a:latin typeface="Helvetica Neue"/>
              </a:rPr>
              <a:t>Multi-tenant 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4873752"/>
            <a:ext cx="6400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B8B0A0"/>
                </a:solidFill>
                <a:latin typeface="Helvetica Neue"/>
              </a:rPr>
              <a:t>One agency, one workspace. Don't pretend to be a SaaS yet.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8B0A0"/>
                </a:solidFill>
                <a:latin typeface="Helvetica Neue"/>
              </a:rPr>
              <a:t>Every 'no' here buys engineering time for Phase 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706A5E"/>
                </a:solidFill>
                <a:latin typeface="Menlo"/>
              </a:rPr>
              <a:t>A3 BRANDS  ·  SAGGY OUTRANK AUDIT  ·  BUILD STATUS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706A5E"/>
                </a:solidFill>
                <a:latin typeface="Menlo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C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7CB342"/>
                </a:solidFill>
                <a:latin typeface="Menlo"/>
              </a:rPr>
              <a:t>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>
                <a:solidFill>
                  <a:srgbClr val="F5EFE0"/>
                </a:solidFill>
                <a:latin typeface="Helvetica Neue"/>
              </a:rPr>
              <a:t>Backfill Phase 1 before any deploy.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Menlo"/>
              </a:rPr>
              <a:t>→  </a:t>
            </a:r>
            <a:r>
              <a:rPr sz="1600">
                <a:solidFill>
                  <a:srgbClr val="B8B0A0"/>
                </a:solidFill>
                <a:latin typeface="Helvetica Neue"/>
              </a:rPr>
              <a:t>Wrap /sales/* and /api/leads/* behind Vercel Password Protect (Google SSO).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Menlo"/>
              </a:rPr>
              <a:t>→  </a:t>
            </a:r>
            <a:r>
              <a:rPr sz="1600">
                <a:solidFill>
                  <a:srgbClr val="B8B0A0"/>
                </a:solidFill>
                <a:latin typeface="Helvetica Neue"/>
              </a:rPr>
              <a:t>Split GET /api/leads into a lead-narrow + sales-full endpoint pair.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Menlo"/>
              </a:rPr>
              <a:t>→  </a:t>
            </a:r>
            <a:r>
              <a:rPr sz="1600">
                <a:solidFill>
                  <a:srgbClr val="B8B0A0"/>
                </a:solidFill>
                <a:latin typeface="Helvetica Neue"/>
              </a:rPr>
              <a:t>Stop rendering sales-only HTML in the lead browser — server-side conditional.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Menlo"/>
              </a:rPr>
              <a:t>→  </a:t>
            </a:r>
            <a:r>
              <a:rPr sz="1600">
                <a:solidFill>
                  <a:srgbClr val="B8B0A0"/>
                </a:solidFill>
                <a:latin typeface="Helvetica Neue"/>
              </a:rPr>
              <a:t>Then ship Phase 2 properly: Supabase replaces the JSON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706A5E"/>
                </a:solidFill>
                <a:latin typeface="Helvetica Neue"/>
              </a:rPr>
              <a:t>Everything above can land in one short PR + an env-var change. No new packages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85216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102416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7CB342"/>
                </a:solidFill>
                <a:latin typeface="Helvetica Neue"/>
              </a:rPr>
              <a:t>Approve Phase 1  →  ship before any external 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