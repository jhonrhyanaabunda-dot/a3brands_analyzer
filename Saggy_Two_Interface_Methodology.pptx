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7CB342"/>
                </a:solidFill>
                <a:latin typeface="Menlo"/>
              </a:rPr>
              <a:t>PRODUCTION METHODOLOGY  ·  BUILD STATUS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F5EFE0"/>
                </a:solidFill>
                <a:latin typeface="Helvetica Neue"/>
              </a:rPr>
              <a:t>Shipping the Two-Interface Results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>
                <a:solidFill>
                  <a:srgbClr val="B8B0A0"/>
                </a:solidFill>
                <a:latin typeface="Helvetica Neue"/>
              </a:rPr>
              <a:t>Original methodology (May 15) called for Phase 1 first.
We built Phases 3 + 4 + part of 2 instead, and skipped Phase 1.
This deck reconciles the plan with what is actually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B342"/>
                </a:solidFill>
                <a:latin typeface="Menlo"/>
              </a:rPr>
              <a:t>Saggy Outrank Audit  ·  A3 Brands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06A5E"/>
                </a:solidFill>
                <a:latin typeface="Menlo"/>
              </a:rPr>
              <a:t>Updated 2026-05-18  ·  next.js app router  ·  firecrawl scoring  ·  json-backed leads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SLIDE 02  ·  AS OF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EFE0"/>
                </a:solidFill>
                <a:latin typeface="Helvetica Neue"/>
              </a:rPr>
              <a:t>What's live, what's halfway, what's still leaking.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20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122C1B"/>
          </a:solidFill>
          <a:ln w="1524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7CB342"/>
                </a:solidFill>
                <a:latin typeface="Helvetica Neue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5623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7CB342"/>
                </a:solidFill>
                <a:latin typeface="Menlo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10896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7CB3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Next.js App Router + TypeScript port (in-place).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7CB3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Server-side audit at /api/audit.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7CB3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Firecrawl LLM scoring (v2/scrape · json extract).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7CB3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Local analyzer fallback (regex over fetched HTML).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7CB3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Seeded fallback for bot-blocked sites.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7CB3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24h disk cache at data/audit-cache.json.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7CB3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Lead persistence /api/leads (POST · GET · DELETE).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7CB3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Status workflow + PATCH /api/leads/[id].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7CB3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Sales console with redesigned lead-detail modal.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7CB3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Trade-area volume varies by city + make.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2A2210"/>
          </a:solidFill>
          <a:ln w="15240">
            <a:solidFill>
              <a:srgbClr val="E2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E2A05A"/>
                </a:solidFill>
                <a:latin typeface="Helvetica Neue"/>
              </a:rPr>
              <a:t>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85623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2A05A"/>
                </a:solidFill>
                <a:latin typeface="Menlo"/>
              </a:rPr>
              <a:t>PARTIAL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310896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E2A05A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Phase 2 persistence: works in dev only — JSON file won't survive a Vercel deploy.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E2A05A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Sales tooling: dashboard + status workflow shipped, but no auth gating yet.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E2A05A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Audit cache is per-machine — multi-rep deploys will need a real KV / Supabase store.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E2A05A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.env config: FIRECRAWL_API_KEY referenced in code but .env file is currently empty.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2A1210"/>
          </a:solidFill>
          <a:ln w="1524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E05A42"/>
                </a:solidFill>
                <a:latin typeface="Helvetica Neue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85623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05A42"/>
                </a:solidFill>
                <a:latin typeface="Menlo"/>
              </a:rPr>
              <a:t>STILL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86000"/>
            <a:ext cx="310896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E05A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Phase 1 leak: ?view=sales is unauthed.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E05A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/api/leads has no auth — anyone can GET, PATCH, or DELETE every lead.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E05A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Lead browser still receives full payload; no server-side trimming.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E05A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No tokenized /r/&lt;token&gt; URLs for lead-facing reports.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E05A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No audit log of who pulled which lead (report_views).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E05A42"/>
                </a:solidFill>
                <a:latin typeface="Menlo"/>
              </a:rPr>
              <a:t>→  </a:t>
            </a:r>
            <a:r>
              <a:rPr sz="1250">
                <a:solidFill>
                  <a:srgbClr val="F5EFE0"/>
                </a:solidFill>
                <a:latin typeface="Helvetica Neue"/>
              </a:rPr>
              <a:t>Email delivery still uses placeholder GHL webhook.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Phase 1 was skipped on the way to building 3 + 4. The next-step slide tells you exactly how to backfill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A5E"/>
                </a:solidFill>
                <a:latin typeface="Menlo"/>
              </a:rPr>
              <a:t>A3 BRANDS  ·  SAGGY OUTRANK AUDIT  ·  BUILD STATUS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06A5E"/>
                </a:solidFill>
                <a:latin typeface="Menlo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SLIDE 03  ·  THE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EFE0"/>
                </a:solidFill>
                <a:latin typeface="Helvetica Neue"/>
              </a:rPr>
              <a:t>The flaw we have to fix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20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80015" y="5029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2A1210"/>
          </a:solidFill>
          <a:ln w="1524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80015" y="502920"/>
            <a:ext cx="155448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05A42"/>
                </a:solidFill>
                <a:latin typeface="Menlo"/>
              </a:rPr>
              <a:t>STILL OPEN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9525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05A42"/>
                </a:solidFill>
                <a:latin typeface="Menlo"/>
              </a:rPr>
              <a:t>TODAY — STILL UNFIXED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EFE0"/>
                </a:solidFill>
                <a:latin typeface="Helvetica Neue"/>
              </a:rPr>
              <a:t>?view=sales is a CSS toggle.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512064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05A42"/>
                </a:solidFill>
                <a:latin typeface="Menlo"/>
              </a:rPr>
              <a:t>→  </a:t>
            </a:r>
            <a:r>
              <a:rPr sz="1500">
                <a:solidFill>
                  <a:srgbClr val="F5EFE0"/>
                </a:solidFill>
                <a:latin typeface="Helvetica Neue"/>
              </a:rPr>
              <a:t>Every lead still receives the full sales-only HTML.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05A42"/>
                </a:solidFill>
                <a:latin typeface="Menlo"/>
              </a:rPr>
              <a:t>→  </a:t>
            </a:r>
            <a:r>
              <a:rPr sz="1500">
                <a:solidFill>
                  <a:srgbClr val="F5EFE0"/>
                </a:solidFill>
                <a:latin typeface="Helvetica Neue"/>
              </a:rPr>
              <a:t>display:none is the only thing hiding gap math + fixes.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05A42"/>
                </a:solidFill>
                <a:latin typeface="Menlo"/>
              </a:rPr>
              <a:t>→  </a:t>
            </a:r>
            <a:r>
              <a:rPr sz="1500">
                <a:solidFill>
                  <a:srgbClr val="F5EFE0"/>
                </a:solidFill>
                <a:latin typeface="Helvetica Neue"/>
              </a:rPr>
              <a:t>DevTools → unhide → read the whole report.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05A42"/>
                </a:solidFill>
                <a:latin typeface="Menlo"/>
              </a:rPr>
              <a:t>→  </a:t>
            </a:r>
            <a:r>
              <a:rPr sz="1500">
                <a:solidFill>
                  <a:srgbClr val="F5EFE0"/>
                </a:solidFill>
                <a:latin typeface="Helvetica Neue"/>
              </a:rPr>
              <a:t>And /api/leads is also unauthed — same class of leak.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952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PRODUCTION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3172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EFE0"/>
                </a:solidFill>
                <a:latin typeface="Helvetica Neue"/>
              </a:rPr>
              <a:t>Sales content never leaves the server.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512064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7CB342"/>
                </a:solidFill>
                <a:latin typeface="Menlo"/>
              </a:rPr>
              <a:t>→  </a:t>
            </a:r>
            <a:r>
              <a:rPr sz="1500">
                <a:solidFill>
                  <a:srgbClr val="F5EFE0"/>
                </a:solidFill>
                <a:latin typeface="Helvetica Neue"/>
              </a:rPr>
              <a:t>Lead browser receives only the trimmed payload.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7CB342"/>
                </a:solidFill>
                <a:latin typeface="Menlo"/>
              </a:rPr>
              <a:t>→  </a:t>
            </a:r>
            <a:r>
              <a:rPr sz="1500">
                <a:solidFill>
                  <a:srgbClr val="F5EFE0"/>
                </a:solidFill>
                <a:latin typeface="Helvetica Neue"/>
              </a:rPr>
              <a:t>Sales view + sales APIs live behind authentication.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7CB342"/>
                </a:solidFill>
                <a:latin typeface="Menlo"/>
              </a:rPr>
              <a:t>→  </a:t>
            </a:r>
            <a:r>
              <a:rPr sz="1500">
                <a:solidFill>
                  <a:srgbClr val="F5EFE0"/>
                </a:solidFill>
                <a:latin typeface="Helvetica Neue"/>
              </a:rPr>
              <a:t>Server decides what to render based on viewer role.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7CB342"/>
                </a:solidFill>
                <a:latin typeface="Menlo"/>
              </a:rPr>
              <a:t>→  </a:t>
            </a:r>
            <a:r>
              <a:rPr sz="1500">
                <a:solidFill>
                  <a:srgbClr val="F5EFE0"/>
                </a:solidFill>
                <a:latin typeface="Helvetica Neue"/>
              </a:rPr>
              <a:t>CSS is a UX layer — not a permission boundary.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A5E"/>
                </a:solidFill>
                <a:latin typeface="Menlo"/>
              </a:rPr>
              <a:t>A3 BRANDS  ·  SAGGY OUTRANK AUDIT  ·  BUILD STATUS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06A5E"/>
                </a:solidFill>
                <a:latin typeface="Menlo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SLIDE 04  ·  THREAT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EFE0"/>
                </a:solidFill>
                <a:latin typeface="Helvetica Neue"/>
              </a:rPr>
              <a:t>What we're protecting, and from whom.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20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80015" y="5029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2A1210"/>
          </a:solidFill>
          <a:ln w="1524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80015" y="502920"/>
            <a:ext cx="155448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05A42"/>
                </a:solidFill>
                <a:latin typeface="Menlo"/>
              </a:rPr>
              <a:t>STILL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ASSET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78308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MITIGATION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86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102416"/>
          </a:solidFill>
          <a:ln w="63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EFE0"/>
                </a:solidFill>
                <a:latin typeface="Helvetica Neue"/>
              </a:rPr>
              <a:t>Fix recommendations + gap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468880"/>
            <a:ext cx="4297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EFE0"/>
                </a:solidFill>
                <a:latin typeface="Helvetica Neue"/>
              </a:rPr>
              <a:t>Lead self-serves and skips the strategy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46888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7CB342"/>
                </a:solidFill>
                <a:latin typeface="Menlo"/>
              </a:rPr>
              <a:t>HIGH  —  server-gated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102416"/>
          </a:solidFill>
          <a:ln w="63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EFE0"/>
                </a:solidFill>
                <a:latin typeface="Helvetica Neue"/>
              </a:rPr>
              <a:t>Cost-model logic (CTR × volume × CPL)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383280"/>
            <a:ext cx="4297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EFE0"/>
                </a:solidFill>
                <a:latin typeface="Helvetica Neue"/>
              </a:rPr>
              <a:t>Competitor scrapes our methodology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38328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7CB342"/>
                </a:solidFill>
                <a:latin typeface="Menlo"/>
              </a:rPr>
              <a:t>MED   —  keep server-side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102416"/>
          </a:solidFill>
          <a:ln w="63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EFE0"/>
                </a:solidFill>
                <a:latin typeface="Helvetica Neue"/>
              </a:rPr>
              <a:t>Lead PII (name · email · phone)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297680"/>
            <a:ext cx="4297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EFE0"/>
                </a:solidFill>
                <a:latin typeface="Helvetica Neue"/>
              </a:rPr>
              <a:t>Any visitor GETs /api/leads in plaintext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29768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7CB342"/>
                </a:solidFill>
                <a:latin typeface="Menlo"/>
              </a:rPr>
              <a:t>HIGH  —  auth required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102416"/>
          </a:solidFill>
          <a:ln w="63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EFE0"/>
                </a:solidFill>
                <a:latin typeface="Helvetica Neue"/>
              </a:rPr>
              <a:t>Sales rep identity / activity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5212080"/>
            <a:ext cx="4297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EFE0"/>
                </a:solidFill>
                <a:latin typeface="Helvetica Neue"/>
              </a:rPr>
              <a:t>Lead identifies who pulled their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521208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7CB342"/>
                </a:solidFill>
                <a:latin typeface="Menlo"/>
              </a:rPr>
              <a:t>LOW   —  internal audit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Two HIGH-tier assets are currently public. Both fall to a Vercel Password Protect wrapper.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A5E"/>
                </a:solidFill>
                <a:latin typeface="Menlo"/>
              </a:rPr>
              <a:t>A3 BRANDS  ·  SAGGY OUTRANK AUDIT  ·  BUILD STATUS 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06A5E"/>
                </a:solidFill>
                <a:latin typeface="Menlo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SLIDE 05  ·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EFE0"/>
                </a:solidFill>
                <a:latin typeface="Helvetica Neue"/>
              </a:rPr>
              <a:t>What's actually wired (and the auth gap).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20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45775" y="5029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 w="15240">
            <a:solidFill>
              <a:srgbClr val="E2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45775" y="502920"/>
            <a:ext cx="1188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2A05A"/>
                </a:solidFill>
                <a:latin typeface="Menlo"/>
              </a:rPr>
              <a:t>PARTIAL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108960" cy="777240"/>
          </a:xfrm>
          <a:prstGeom prst="roundRect">
            <a:avLst>
              <a:gd name="adj" fmla="val 14000"/>
            </a:avLst>
          </a:prstGeom>
          <a:solidFill>
            <a:srgbClr val="102416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EFE0"/>
                </a:solidFill>
                <a:latin typeface="Helvetica Neue"/>
              </a:rPr>
              <a:t>Lead browser</a:t>
            </a:r>
          </a:p>
          <a:p>
            <a:pPr algn="ctr"/>
            <a:r>
              <a:rPr sz="900">
                <a:solidFill>
                  <a:srgbClr val="B8B0A0"/>
                </a:solidFill>
                <a:latin typeface="Menlo"/>
              </a:rPr>
              <a:t>form · audit ·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737360"/>
            <a:ext cx="3108960" cy="777240"/>
          </a:xfrm>
          <a:prstGeom prst="roundRect">
            <a:avLst>
              <a:gd name="adj" fmla="val 14000"/>
            </a:avLst>
          </a:prstGeom>
          <a:solidFill>
            <a:srgbClr val="102416"/>
          </a:solidFill>
          <a:ln w="1270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37360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EFE0"/>
                </a:solidFill>
                <a:latin typeface="Helvetica Neue"/>
              </a:rPr>
              <a:t>Sales console</a:t>
            </a:r>
          </a:p>
          <a:p>
            <a:pPr algn="ctr"/>
            <a:r>
              <a:rPr sz="900">
                <a:solidFill>
                  <a:srgbClr val="B8B0A0"/>
                </a:solidFill>
                <a:latin typeface="Menlo"/>
              </a:rPr>
              <a:t>?view=sales · ⚠ unauthed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3108960" cy="777240"/>
          </a:xfrm>
          <a:prstGeom prst="roundRect">
            <a:avLst>
              <a:gd name="adj" fmla="val 14000"/>
            </a:avLst>
          </a:prstGeom>
          <a:solidFill>
            <a:srgbClr val="122C1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EFE0"/>
                </a:solidFill>
                <a:latin typeface="Helvetica Neue"/>
              </a:rPr>
              <a:t>POST /api/audit</a:t>
            </a:r>
          </a:p>
          <a:p>
            <a:pPr algn="ctr"/>
            <a:r>
              <a:rPr sz="900">
                <a:solidFill>
                  <a:srgbClr val="B8B0A0"/>
                </a:solidFill>
                <a:latin typeface="Menlo"/>
              </a:rPr>
              <a:t>Next.js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926080"/>
            <a:ext cx="3291840" cy="777240"/>
          </a:xfrm>
          <a:prstGeom prst="roundRect">
            <a:avLst>
              <a:gd name="adj" fmla="val 14000"/>
            </a:avLst>
          </a:prstGeom>
          <a:solidFill>
            <a:srgbClr val="122C1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926080"/>
            <a:ext cx="3291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EFE0"/>
                </a:solidFill>
                <a:latin typeface="Helvetica Neue"/>
              </a:rPr>
              <a:t>POST /api/leads</a:t>
            </a:r>
          </a:p>
          <a:p>
            <a:pPr algn="ctr"/>
            <a:r>
              <a:rPr sz="900">
                <a:solidFill>
                  <a:srgbClr val="B8B0A0"/>
                </a:solidFill>
                <a:latin typeface="Menlo"/>
              </a:rPr>
              <a:t>validate + persist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926080"/>
            <a:ext cx="3108960" cy="777240"/>
          </a:xfrm>
          <a:prstGeom prst="roundRect">
            <a:avLst>
              <a:gd name="adj" fmla="val 14000"/>
            </a:avLst>
          </a:prstGeom>
          <a:solidFill>
            <a:srgbClr val="122C1B"/>
          </a:solidFill>
          <a:ln w="1270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926080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EFE0"/>
                </a:solidFill>
                <a:latin typeface="Helvetica Neue"/>
              </a:rPr>
              <a:t>GET / PATCH / DELETE</a:t>
            </a:r>
          </a:p>
          <a:p>
            <a:pPr algn="ctr"/>
            <a:r>
              <a:rPr sz="900">
                <a:solidFill>
                  <a:srgbClr val="B8B0A0"/>
                </a:solidFill>
                <a:latin typeface="Menlo"/>
              </a:rPr>
              <a:t>/api/leads · ⚠ unauthed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2286000" cy="777240"/>
          </a:xfrm>
          <a:prstGeom prst="roundRect">
            <a:avLst>
              <a:gd name="adj" fmla="val 14000"/>
            </a:avLst>
          </a:prstGeom>
          <a:solidFill>
            <a:srgbClr val="102416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EFE0"/>
                </a:solidFill>
                <a:latin typeface="Helvetica Neue"/>
              </a:rPr>
              <a:t>Firecrawl</a:t>
            </a:r>
          </a:p>
          <a:p>
            <a:pPr algn="ctr"/>
            <a:r>
              <a:rPr sz="900">
                <a:solidFill>
                  <a:srgbClr val="B8B0A0"/>
                </a:solidFill>
                <a:latin typeface="Menlo"/>
              </a:rPr>
              <a:t>v2/scrape · LLM extract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160520"/>
            <a:ext cx="2286000" cy="777240"/>
          </a:xfrm>
          <a:prstGeom prst="roundRect">
            <a:avLst>
              <a:gd name="adj" fmla="val 14000"/>
            </a:avLst>
          </a:prstGeom>
          <a:solidFill>
            <a:srgbClr val="102416"/>
          </a:solidFill>
          <a:ln w="12700">
            <a:solidFill>
              <a:srgbClr val="B8B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416052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EFE0"/>
                </a:solidFill>
                <a:latin typeface="Helvetica Neue"/>
              </a:rPr>
              <a:t>Local analyzer</a:t>
            </a:r>
          </a:p>
          <a:p>
            <a:pPr algn="ctr"/>
            <a:r>
              <a:rPr sz="900">
                <a:solidFill>
                  <a:srgbClr val="B8B0A0"/>
                </a:solidFill>
                <a:latin typeface="Menlo"/>
              </a:rPr>
              <a:t>regex over HTML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160520"/>
            <a:ext cx="2194560" cy="777240"/>
          </a:xfrm>
          <a:prstGeom prst="roundRect">
            <a:avLst>
              <a:gd name="adj" fmla="val 14000"/>
            </a:avLst>
          </a:prstGeom>
          <a:solidFill>
            <a:srgbClr val="102416"/>
          </a:solidFill>
          <a:ln w="12700">
            <a:solidFill>
              <a:srgbClr val="B8B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416052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EFE0"/>
                </a:solidFill>
                <a:latin typeface="Helvetica Neue"/>
              </a:rPr>
              <a:t>Seeded</a:t>
            </a:r>
          </a:p>
          <a:p>
            <a:pPr algn="ctr"/>
            <a:r>
              <a:rPr sz="900">
                <a:solidFill>
                  <a:srgbClr val="B8B0A0"/>
                </a:solidFill>
                <a:latin typeface="Menlo"/>
              </a:rPr>
              <a:t>urlSeed fallback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94960"/>
            <a:ext cx="3474720" cy="777240"/>
          </a:xfrm>
          <a:prstGeom prst="roundRect">
            <a:avLst>
              <a:gd name="adj" fmla="val 14000"/>
            </a:avLst>
          </a:prstGeom>
          <a:solidFill>
            <a:srgbClr val="102416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3474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EFE0"/>
                </a:solidFill>
                <a:latin typeface="Helvetica Neue"/>
              </a:rPr>
              <a:t>data/audit-cache.json</a:t>
            </a:r>
          </a:p>
          <a:p>
            <a:pPr algn="ctr"/>
            <a:r>
              <a:rPr sz="900">
                <a:solidFill>
                  <a:srgbClr val="B8B0A0"/>
                </a:solidFill>
                <a:latin typeface="Menlo"/>
              </a:rPr>
              <a:t>24h TTL · per-machine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5394960"/>
            <a:ext cx="3291840" cy="777240"/>
          </a:xfrm>
          <a:prstGeom prst="roundRect">
            <a:avLst>
              <a:gd name="adj" fmla="val 14000"/>
            </a:avLst>
          </a:prstGeom>
          <a:solidFill>
            <a:srgbClr val="102416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5394960"/>
            <a:ext cx="3291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EFE0"/>
                </a:solidFill>
                <a:latin typeface="Helvetica Neue"/>
              </a:rPr>
              <a:t>data/leads.json</a:t>
            </a:r>
          </a:p>
          <a:p>
            <a:pPr algn="ctr"/>
            <a:r>
              <a:rPr sz="900">
                <a:solidFill>
                  <a:srgbClr val="B8B0A0"/>
                </a:solidFill>
                <a:latin typeface="Menlo"/>
              </a:rPr>
              <a:t>Lead[] · per-machine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03120" y="2514600"/>
            <a:ext cx="0" cy="411480"/>
          </a:xfrm>
          <a:prstGeom prst="line">
            <a:avLst/>
          </a:prstGeom>
          <a:ln w="1397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80160" y="2574036"/>
            <a:ext cx="16459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B8B0A0"/>
                </a:solidFill>
                <a:latin typeface="Menlo"/>
              </a:rPr>
              <a:t>scan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103120" y="2514600"/>
            <a:ext cx="3977640" cy="411480"/>
          </a:xfrm>
          <a:prstGeom prst="line">
            <a:avLst/>
          </a:prstGeom>
          <a:ln w="1397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68980" y="2574036"/>
            <a:ext cx="16459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B8B0A0"/>
                </a:solidFill>
                <a:latin typeface="Menlo"/>
              </a:rPr>
              <a:t>lead submit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58400" y="2514600"/>
            <a:ext cx="0" cy="411480"/>
          </a:xfrm>
          <a:prstGeom prst="line">
            <a:avLst/>
          </a:prstGeom>
          <a:ln w="13970">
            <a:solidFill>
              <a:srgbClr val="E05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235440" y="2574036"/>
            <a:ext cx="16459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B8B0A0"/>
                </a:solidFill>
                <a:latin typeface="Menlo"/>
              </a:rPr>
              <a:t>read · mutate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371600" y="3703320"/>
            <a:ext cx="320040" cy="457200"/>
          </a:xfrm>
          <a:prstGeom prst="line">
            <a:avLst/>
          </a:prstGeom>
          <a:ln w="1397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03120" y="3703320"/>
            <a:ext cx="2057400" cy="457200"/>
          </a:xfrm>
          <a:prstGeom prst="line">
            <a:avLst/>
          </a:prstGeom>
          <a:ln w="1397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743200" y="3703320"/>
            <a:ext cx="3840480" cy="457200"/>
          </a:xfrm>
          <a:prstGeom prst="line">
            <a:avLst/>
          </a:prstGeom>
          <a:ln w="1397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86000" y="4937760"/>
            <a:ext cx="0" cy="457200"/>
          </a:xfrm>
          <a:prstGeom prst="line">
            <a:avLst/>
          </a:prstGeom>
          <a:ln w="1397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63040" y="5020056"/>
            <a:ext cx="16459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B8B0A0"/>
                </a:solidFill>
                <a:latin typeface="Menlo"/>
              </a:rPr>
              <a:t>write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80760" y="3703320"/>
            <a:ext cx="0" cy="1691640"/>
          </a:xfrm>
          <a:prstGeom prst="line">
            <a:avLst/>
          </a:prstGeom>
          <a:ln w="1397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57800" y="4402836"/>
            <a:ext cx="16459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B8B0A0"/>
                </a:solidFill>
                <a:latin typeface="Menlo"/>
              </a:rPr>
              <a:t>append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Red boxes = unauthed and externally reachable. Same code, just needs Vercel Password Protect on the /api/leads + sales routes.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A5E"/>
                </a:solidFill>
                <a:latin typeface="Menlo"/>
              </a:rPr>
              <a:t>A3 BRANDS  ·  SAGGY OUTRANK AUDIT  ·  BUILD STATUS v2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06A5E"/>
                </a:solidFill>
                <a:latin typeface="Menlo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SLIDE 06  ·  SALES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EFE0"/>
                </a:solidFill>
                <a:latin typeface="Helvetica Neue"/>
              </a:rPr>
              <a:t>Three options, ordered by effort.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20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80015" y="5029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2A1210"/>
          </a:solidFill>
          <a:ln w="1524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80015" y="502920"/>
            <a:ext cx="155448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05A42"/>
                </a:solidFill>
                <a:latin typeface="Menlo"/>
              </a:rPr>
              <a:t>STILL OPEN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247120" cy="118872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7315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7CB342"/>
                </a:solidFill>
                <a:latin typeface="Menl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93392"/>
            <a:ext cx="6858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EFE0"/>
                </a:solidFill>
                <a:latin typeface="Helvetica Neue"/>
              </a:rPr>
              <a:t>Vercel Password Protect / Cloudflare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2316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Wraps /sales/* and /api/leads/*. SSO with Google Workspace.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029968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1">
                <a:solidFill>
                  <a:srgbClr val="7CB342"/>
                </a:solidFill>
                <a:latin typeface="Menlo"/>
              </a:rPr>
              <a:t>~30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4231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B342"/>
                </a:solidFill>
                <a:latin typeface="Menlo"/>
              </a:rPr>
              <a:t>RECOMMENDED — DO THIS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11247120" cy="118872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6350">
            <a:solidFill>
              <a:srgbClr val="70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83280"/>
            <a:ext cx="7315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7CB342"/>
                </a:solidFill>
                <a:latin typeface="Menl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364992"/>
            <a:ext cx="6858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EFE0"/>
                </a:solidFill>
                <a:latin typeface="Helvetica Neue"/>
              </a:rPr>
              <a:t>Magic-link email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79476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@a3brands.com email → 15-minute signed link.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401568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1">
                <a:solidFill>
                  <a:srgbClr val="7CB342"/>
                </a:solidFill>
                <a:latin typeface="Menlo"/>
              </a:rPr>
              <a:t>~half a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947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06A5E"/>
                </a:solidFill>
                <a:latin typeface="Menlo"/>
              </a:rPr>
              <a:t>Phase 2 upgrade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2000"/>
            <a:ext cx="11247120" cy="118872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6350">
            <a:solidFill>
              <a:srgbClr val="70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7315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7CB342"/>
                </a:solidFill>
                <a:latin typeface="Menl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736592"/>
            <a:ext cx="6858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EFE0"/>
                </a:solidFill>
                <a:latin typeface="Helvetica Neue"/>
              </a:rPr>
              <a:t>Session auth with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16636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Clerk / Auth0 + RBAC.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773168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1">
                <a:solidFill>
                  <a:srgbClr val="7CB342"/>
                </a:solidFill>
                <a:latin typeface="Menlo"/>
              </a:rPr>
              <a:t>~1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1663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06A5E"/>
                </a:solidFill>
                <a:latin typeface="Menlo"/>
              </a:rPr>
              <a:t>Defer until &gt;5 reps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None of the three is built yet. The sales-only HTML and PII at /api/leads remain publicly reachable.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A5E"/>
                </a:solidFill>
                <a:latin typeface="Menlo"/>
              </a:rPr>
              <a:t>A3 BRANDS  ·  SAGGY OUTRANK AUDIT  ·  BUILD STATUS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06A5E"/>
                </a:solidFill>
                <a:latin typeface="Menlo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SLIDE 07  ·  URL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EFE0"/>
                </a:solidFill>
                <a:latin typeface="Helvetica Neue"/>
              </a:rPr>
              <a:t>Tokenize the lead link. Always.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20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80015" y="5029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2A1210"/>
          </a:solidFill>
          <a:ln w="1524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80015" y="502920"/>
            <a:ext cx="155448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05A42"/>
                </a:solidFill>
                <a:latin typeface="Menlo"/>
              </a:rPr>
              <a:t>STILL OPEN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9525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05A42"/>
                </a:solidFill>
                <a:latin typeface="Menlo"/>
              </a:rPr>
              <a:t>TODAY — NO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51206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EFE0"/>
                </a:solidFill>
                <a:latin typeface="Menlo"/>
              </a:rPr>
              <a:t>/?view=sales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512064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05A42"/>
                </a:solidFill>
                <a:latin typeface="Menlo"/>
              </a:rPr>
              <a:t>→  </a:t>
            </a:r>
            <a:r>
              <a:rPr sz="1400">
                <a:solidFill>
                  <a:srgbClr val="F5EFE0"/>
                </a:solidFill>
                <a:latin typeface="Helvetica Neue"/>
              </a:rPr>
              <a:t>Query-param toggle, anyone can flip it.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05A42"/>
                </a:solidFill>
                <a:latin typeface="Menlo"/>
              </a:rPr>
              <a:t>→  </a:t>
            </a:r>
            <a:r>
              <a:rPr sz="1400">
                <a:solidFill>
                  <a:srgbClr val="F5EFE0"/>
                </a:solidFill>
                <a:latin typeface="Helvetica Neue"/>
              </a:rPr>
              <a:t>Lead reports have no shareable URL at all.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05A42"/>
                </a:solidFill>
                <a:latin typeface="Menlo"/>
              </a:rPr>
              <a:t>→  </a:t>
            </a:r>
            <a:r>
              <a:rPr sz="1400">
                <a:solidFill>
                  <a:srgbClr val="F5EFE0"/>
                </a:solidFill>
                <a:latin typeface="Helvetica Neue"/>
              </a:rPr>
              <a:t>No expiry, no revoke, no per-lead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952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51206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5EFE0"/>
                </a:solidFill>
                <a:latin typeface="Menlo"/>
              </a:rPr>
              <a:t>/r/k8x2q9vN_aPzL3RfH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512064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7CB342"/>
                </a:solidFill>
                <a:latin typeface="Menlo"/>
              </a:rPr>
              <a:t>→  </a:t>
            </a:r>
            <a:r>
              <a:rPr sz="1400">
                <a:solidFill>
                  <a:srgbClr val="F5EFE0"/>
                </a:solidFill>
                <a:latin typeface="Helvetica Neue"/>
              </a:rPr>
              <a:t>128-bit opaque token — unguessable.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7CB342"/>
                </a:solidFill>
                <a:latin typeface="Menlo"/>
              </a:rPr>
              <a:t>→  </a:t>
            </a:r>
            <a:r>
              <a:rPr sz="1400">
                <a:solidFill>
                  <a:srgbClr val="F5EFE0"/>
                </a:solidFill>
                <a:latin typeface="Helvetica Neue"/>
              </a:rPr>
              <a:t>Server maps token → lead internally.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7CB342"/>
                </a:solidFill>
                <a:latin typeface="Menlo"/>
              </a:rPr>
              <a:t>→  </a:t>
            </a:r>
            <a:r>
              <a:rPr sz="1400">
                <a:solidFill>
                  <a:srgbClr val="F5EFE0"/>
                </a:solidFill>
                <a:latin typeface="Helvetica Neue"/>
              </a:rPr>
              <a:t>Tokens expire after 30 days, redirect to 'book a call'.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7CB342"/>
                </a:solidFill>
                <a:latin typeface="Menlo"/>
              </a:rPr>
              <a:t>→  </a:t>
            </a:r>
            <a:r>
              <a:rPr sz="1400">
                <a:solidFill>
                  <a:srgbClr val="F5EFE0"/>
                </a:solidFill>
                <a:latin typeface="Helvetica Neue"/>
              </a:rPr>
              <a:t>Sales reads via /sales/&lt;id&gt; behind auth — internal id fine.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Builds on storage.ts already in the repo — Lead.id is a UUID, just need a separate lead_token column.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A5E"/>
                </a:solidFill>
                <a:latin typeface="Menlo"/>
              </a:rPr>
              <a:t>A3 BRANDS  ·  SAGGY OUTRANK AUDIT  ·  BUILD STATUS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06A5E"/>
                </a:solidFill>
                <a:latin typeface="Menlo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SLIDE 08  · 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EFE0"/>
                </a:solidFill>
                <a:latin typeface="Helvetica Neue"/>
              </a:rPr>
              <a:t>What's persisted today (and what's missing).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20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45775" y="5029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 w="15240">
            <a:solidFill>
              <a:srgbClr val="E2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45775" y="502920"/>
            <a:ext cx="1188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2A05A"/>
                </a:solidFill>
                <a:latin typeface="Menlo"/>
              </a:rPr>
              <a:t>PARTIAL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7315200" cy="219456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952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BUILT — data/leads.json  (type Lead in storage.ts)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6949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00">
                <a:solidFill>
                  <a:srgbClr val="F5EFE0"/>
                </a:solidFill>
                <a:latin typeface="Menlo"/>
              </a:rPr>
              <a:t>{</a:t>
            </a:r>
          </a:p>
          <a:p>
            <a:pPr>
              <a:lnSpc>
                <a:spcPct val="105000"/>
              </a:lnSpc>
            </a:pPr>
            <a:r>
              <a:rPr sz="1200">
                <a:solidFill>
                  <a:srgbClr val="F5EFE0"/>
                </a:solidFill>
                <a:latin typeface="Menlo"/>
              </a:rPr>
              <a:t>  id, ts, status: 'pending' | 'confirmed' | 'cancelled',</a:t>
            </a:r>
          </a:p>
          <a:p>
            <a:pPr>
              <a:lnSpc>
                <a:spcPct val="105000"/>
              </a:lnSpc>
            </a:pPr>
            <a:r>
              <a:rPr sz="1200">
                <a:solidFill>
                  <a:srgbClr val="F5EFE0"/>
                </a:solidFill>
                <a:latin typeface="Menlo"/>
              </a:rPr>
              <a:t>  name, dealership, email, phone,</a:t>
            </a:r>
          </a:p>
          <a:p>
            <a:pPr>
              <a:lnSpc>
                <a:spcPct val="105000"/>
              </a:lnSpc>
            </a:pPr>
            <a:r>
              <a:rPr sz="1200">
                <a:solidFill>
                  <a:srgbClr val="F5EFE0"/>
                </a:solidFill>
                <a:latin typeface="Menlo"/>
              </a:rPr>
              <a:t>  url, city, make,</a:t>
            </a:r>
          </a:p>
          <a:p>
            <a:pPr>
              <a:lnSpc>
                <a:spcPct val="105000"/>
              </a:lnSpc>
            </a:pPr>
            <a:r>
              <a:rPr sz="1200">
                <a:solidFill>
                  <a:srgbClr val="F5EFE0"/>
                </a:solidFill>
                <a:latin typeface="Menlo"/>
              </a:rPr>
              <a:t>  estimatedRank, monthlyDamage, monthlyLostLeads, monthlyLostClicks,</a:t>
            </a:r>
          </a:p>
          <a:p>
            <a:pPr>
              <a:lnSpc>
                <a:spcPct val="105000"/>
              </a:lnSpc>
            </a:pPr>
            <a:r>
              <a:rPr sz="1200">
                <a:solidFill>
                  <a:srgbClr val="F5EFE0"/>
                </a:solidFill>
                <a:latin typeface="Menlo"/>
              </a:rPr>
              <a:t>  yourScores, competitorScores</a:t>
            </a:r>
          </a:p>
          <a:p>
            <a:pPr>
              <a:lnSpc>
                <a:spcPct val="105000"/>
              </a:lnSpc>
            </a:pPr>
            <a:r>
              <a:rPr sz="1200">
                <a:solidFill>
                  <a:srgbClr val="F5EFE0"/>
                </a:solidFill>
                <a:latin typeface="Menlo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7315200" cy="219456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952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BUILT — data/audit-cache.json  (24h TTL keyed by url)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6949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F5EFE0"/>
                </a:solidFill>
                <a:latin typeface="Menlo"/>
              </a:rPr>
              <a:t>{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F5EFE0"/>
                </a:solidFill>
                <a:latin typeface="Menlo"/>
              </a:rPr>
              <a:t>  "https://bmwofsouthatlanta.com/": {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F5EFE0"/>
                </a:solidFill>
                <a:latin typeface="Menlo"/>
              </a:rPr>
              <a:t>    ts: 1779165432110,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F5EFE0"/>
                </a:solidFill>
                <a:latin typeface="Menlo"/>
              </a:rPr>
              <a:t>    data: {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F5EFE0"/>
                </a:solidFill>
                <a:latin typeface="Menlo"/>
              </a:rPr>
              <a:t>      seo, aeo, geo, total, source: 'firecrawl' | 'analyzer' | 'seeded',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F5EFE0"/>
                </a:solidFill>
                <a:latin typeface="Menlo"/>
              </a:rPr>
              <a:t>      reasoning: { seo, aeo, geo }  // when firecrawl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F5EFE0"/>
                </a:solidFill>
                <a:latin typeface="Menlo"/>
              </a:rPr>
              <a:t>    }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F5EFE0"/>
                </a:solidFill>
                <a:latin typeface="Menlo"/>
              </a:rPr>
              <a:t>  }, ...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F5EFE0"/>
                </a:solidFill>
                <a:latin typeface="Menlo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83080"/>
            <a:ext cx="3657600" cy="452628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9525">
            <a:solidFill>
              <a:srgbClr val="E2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74519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2A05A"/>
                </a:solidFill>
                <a:latin typeface="Menlo"/>
              </a:rPr>
              <a:t>STILL TO ADD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38328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7CB342"/>
                </a:solidFill>
                <a:latin typeface="Menlo"/>
              </a:rPr>
              <a:t>→  </a:t>
            </a:r>
            <a:r>
              <a:rPr sz="1200">
                <a:solidFill>
                  <a:srgbClr val="F5EFE0"/>
                </a:solidFill>
                <a:latin typeface="Helvetica Neue"/>
              </a:rPr>
              <a:t>lead_token (text unique) — for /r/&lt;token&gt;.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7CB342"/>
                </a:solidFill>
                <a:latin typeface="Menlo"/>
              </a:rPr>
              <a:t>→  </a:t>
            </a:r>
            <a:r>
              <a:rPr sz="1200">
                <a:solidFill>
                  <a:srgbClr val="F5EFE0"/>
                </a:solidFill>
                <a:latin typeface="Helvetica Neue"/>
              </a:rPr>
              <a:t>report_views table — who pulled what.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7CB342"/>
                </a:solidFill>
                <a:latin typeface="Menlo"/>
              </a:rPr>
              <a:t>→  </a:t>
            </a:r>
            <a:r>
              <a:rPr sz="1200">
                <a:solidFill>
                  <a:srgbClr val="F5EFE0"/>
                </a:solidFill>
                <a:latin typeface="Helvetica Neue"/>
              </a:rPr>
              <a:t>ghl_synced_at — retry CRM pushes without dupes.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7CB342"/>
                </a:solidFill>
                <a:latin typeface="Menlo"/>
              </a:rPr>
              <a:t>→  </a:t>
            </a:r>
            <a:r>
              <a:rPr sz="1200">
                <a:solidFill>
                  <a:srgbClr val="F5EFE0"/>
                </a:solidFill>
                <a:latin typeface="Helvetica Neue"/>
              </a:rPr>
              <a:t>Move both files to Supabase / Vercel Postgres for any deploy.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8B0A0"/>
                </a:solidFill>
                <a:latin typeface="Helvetica Neue"/>
              </a:rPr>
              <a:t>JSON files work in dev; Vercel serverless filesystem is read-only — first deploy will break persistence.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A5E"/>
                </a:solidFill>
                <a:latin typeface="Menlo"/>
              </a:rPr>
              <a:t>A3 BRANDS  ·  SAGGY OUTRANK AUDIT  ·  BUILD STATUS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06A5E"/>
                </a:solidFill>
                <a:latin typeface="Menlo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SLIDE 09  ·  PAYLOAD TRIMMING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EFE0"/>
                </a:solidFill>
                <a:latin typeface="Helvetica Neue"/>
              </a:rPr>
              <a:t>Still serving the full thing to both views.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20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80015" y="5029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2A1210"/>
          </a:solidFill>
          <a:ln w="1524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80015" y="502920"/>
            <a:ext cx="155448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05A42"/>
                </a:solidFill>
                <a:latin typeface="Menlo"/>
              </a:rPr>
              <a:t>STILL OPEN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9525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05A42"/>
                </a:solidFill>
                <a:latin typeface="Menlo"/>
              </a:rPr>
              <a:t>TODAY — GET /api/leads (unauthed)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8B0A0"/>
                </a:solidFill>
                <a:latin typeface="Helvetica Neue"/>
              </a:rPr>
              <a:t>Lead + sales receive the same JSON.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5EFE0"/>
                </a:solidFill>
                <a:latin typeface="Menlo"/>
              </a:rPr>
              <a:t>{ leads: [ {</a:t>
            </a:r>
          </a:p>
          <a:p>
            <a:r>
              <a:rPr sz="1300">
                <a:solidFill>
                  <a:srgbClr val="F5EFE0"/>
                </a:solidFill>
                <a:latin typeface="Menlo"/>
              </a:rPr>
              <a:t>  id, ts, status,</a:t>
            </a:r>
          </a:p>
          <a:p>
            <a:r>
              <a:rPr sz="1300">
                <a:solidFill>
                  <a:srgbClr val="F5EFE0"/>
                </a:solidFill>
                <a:latin typeface="Menlo"/>
              </a:rPr>
              <a:t>  name, dealership, email, phone,    // PII</a:t>
            </a:r>
          </a:p>
          <a:p>
            <a:r>
              <a:rPr sz="1300">
                <a:solidFill>
                  <a:srgbClr val="F5EFE0"/>
                </a:solidFill>
                <a:latin typeface="Menlo"/>
              </a:rPr>
              <a:t>  url, city, make,</a:t>
            </a:r>
          </a:p>
          <a:p>
            <a:r>
              <a:rPr sz="1300">
                <a:solidFill>
                  <a:srgbClr val="F5EFE0"/>
                </a:solidFill>
                <a:latin typeface="Menlo"/>
              </a:rPr>
              <a:t>  estimatedRank, monthlyDamage, ...   // audit</a:t>
            </a:r>
          </a:p>
          <a:p>
            <a:r>
              <a:rPr sz="1300">
                <a:solidFill>
                  <a:srgbClr val="F5EFE0"/>
                </a:solidFill>
                <a:latin typeface="Menlo"/>
              </a:rPr>
              <a:t>  yourScores, competitorScores       // gap analysis</a:t>
            </a:r>
          </a:p>
          <a:p>
            <a:r>
              <a:rPr sz="1300">
                <a:solidFill>
                  <a:srgbClr val="F5EFE0"/>
                </a:solidFill>
                <a:latin typeface="Menlo"/>
              </a:rPr>
              <a:t>} ]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607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05A42"/>
                </a:solidFill>
                <a:latin typeface="Menlo"/>
              </a:rPr>
              <a:t>Same shape leaks PII + methodology to lead browser.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830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7CB342"/>
                </a:solidFill>
                <a:latin typeface="Menlo"/>
              </a:rPr>
              <a:t>GOAL — split into two 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8B0A0"/>
                </a:solidFill>
                <a:latin typeface="Helvetica Neue"/>
              </a:rPr>
              <a:t>Sales JSON keeps all fields. Lead JSON keeps the report only.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5EFE0"/>
                </a:solidFill>
                <a:latin typeface="Menlo"/>
              </a:rPr>
              <a:t>GET /api/report/:token     (lead — public, narrow)</a:t>
            </a:r>
          </a:p>
          <a:p>
            <a:r>
              <a:rPr sz="1200">
                <a:solidFill>
                  <a:srgbClr val="F5EFE0"/>
                </a:solidFill>
                <a:latin typeface="Menlo"/>
              </a:rPr>
              <a:t>  → { band, damage, verdict, leaderboard, city }</a:t>
            </a:r>
          </a:p>
          <a:p>
            <a:r>
              <a:rPr sz="1200">
                <a:solidFill>
                  <a:srgbClr val="F5EFE0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F5EFE0"/>
                </a:solidFill>
                <a:latin typeface="Menlo"/>
              </a:rPr>
              <a:t>GET /api/leads/:id         (sales — auth required)</a:t>
            </a:r>
          </a:p>
          <a:p>
            <a:r>
              <a:rPr sz="1200">
                <a:solidFill>
                  <a:srgbClr val="F5EFE0"/>
                </a:solidFill>
                <a:latin typeface="Menlo"/>
              </a:rPr>
              <a:t>  → full Lead record (current shape)</a:t>
            </a:r>
          </a:p>
          <a:p>
            <a:r>
              <a:rPr sz="1200">
                <a:solidFill>
                  <a:srgbClr val="F5EFE0"/>
                </a:solidFill>
                <a:latin typeface="Menl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7607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B342"/>
                </a:solidFill>
                <a:latin typeface="Menlo"/>
              </a:rPr>
              <a:t>Trim on the server — not in the browser.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A5E"/>
                </a:solidFill>
                <a:latin typeface="Menlo"/>
              </a:rPr>
              <a:t>A3 BRANDS  ·  SAGGY OUTRANK AUDIT  ·  BUILD STATUS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06A5E"/>
                </a:solidFill>
                <a:latin typeface="Menlo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SLIDE 10  ·  WHERE THE AUDIT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EFE0"/>
                </a:solidFill>
                <a:latin typeface="Helvetica Neue"/>
              </a:rPr>
              <a:t>Done — moved server-side with a 3-tier fallback.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20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45775" y="5029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22C1B"/>
          </a:solidFill>
          <a:ln w="1524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45775" y="502920"/>
            <a:ext cx="1188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B342"/>
                </a:solidFill>
                <a:latin typeface="Menlo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24712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1">
                <a:solidFill>
                  <a:srgbClr val="7CB342"/>
                </a:solidFill>
                <a:latin typeface="Menlo"/>
              </a:rPr>
              <a:t>→  </a:t>
            </a:r>
            <a:r>
              <a:rPr sz="1450">
                <a:solidFill>
                  <a:srgbClr val="F5EFE0"/>
                </a:solidFill>
                <a:latin typeface="Helvetica Neue"/>
              </a:rPr>
              <a:t>All scoring now lives at /api/audit (server-side). The browser only owns form + theatre + render.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1">
                <a:solidFill>
                  <a:srgbClr val="7CB342"/>
                </a:solidFill>
                <a:latin typeface="Menlo"/>
              </a:rPr>
              <a:t>→  </a:t>
            </a:r>
            <a:r>
              <a:rPr sz="1450">
                <a:solidFill>
                  <a:srgbClr val="F5EFE0"/>
                </a:solidFill>
                <a:latin typeface="Helvetica Neue"/>
              </a:rPr>
              <a:t>Primary path: Firecrawl /v2/scrape with the json extract format — LLM rates SEO / AEO / GEO directly.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1">
                <a:solidFill>
                  <a:srgbClr val="7CB342"/>
                </a:solidFill>
                <a:latin typeface="Menlo"/>
              </a:rPr>
              <a:t>→  </a:t>
            </a:r>
            <a:r>
              <a:rPr sz="1450">
                <a:solidFill>
                  <a:srgbClr val="F5EFE0"/>
                </a:solidFill>
                <a:latin typeface="Helvetica Neue"/>
              </a:rPr>
              <a:t>Fallback 1: local analyzer at app/lib/analyzer.ts — server-fetches HTML and scores 23 regex signals.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1">
                <a:solidFill>
                  <a:srgbClr val="7CB342"/>
                </a:solidFill>
                <a:latin typeface="Menlo"/>
              </a:rPr>
              <a:t>→  </a:t>
            </a:r>
            <a:r>
              <a:rPr sz="1450">
                <a:solidFill>
                  <a:srgbClr val="F5EFE0"/>
                </a:solidFill>
                <a:latin typeface="Helvetica Neue"/>
              </a:rPr>
              <a:t>Fallback 2: seeded urlSeed scores — deterministic per URL, used when the site blocks bots entirely.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1">
                <a:solidFill>
                  <a:srgbClr val="7CB342"/>
                </a:solidFill>
                <a:latin typeface="Menlo"/>
              </a:rPr>
              <a:t>→  </a:t>
            </a:r>
            <a:r>
              <a:rPr sz="1450">
                <a:solidFill>
                  <a:srgbClr val="F5EFE0"/>
                </a:solidFill>
                <a:latin typeface="Helvetica Neue"/>
              </a:rPr>
              <a:t>Cached at data/audit-cache.json keyed by URL with 24h TTL — same site = same score within the window.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1">
                <a:solidFill>
                  <a:srgbClr val="7CB342"/>
                </a:solidFill>
                <a:latin typeface="Menlo"/>
              </a:rPr>
              <a:t>→  </a:t>
            </a:r>
            <a:r>
              <a:rPr sz="1450">
                <a:solidFill>
                  <a:srgbClr val="F5EFE0"/>
                </a:solidFill>
                <a:latin typeface="Helvetica Neue"/>
              </a:rPr>
              <a:t>CPL benchmark, CTR curve, trade-area volume now derived per (city, make) — no constants in browser JS.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8B0A0"/>
                </a:solidFill>
                <a:latin typeface="Menlo"/>
              </a:rPr>
              <a:t>Files: app/api/audit/route.ts · app/lib/firecrawl.ts · app/lib/analyzer.ts · app/lib/audit.ts (browser).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A5E"/>
                </a:solidFill>
                <a:latin typeface="Menlo"/>
              </a:rPr>
              <a:t>A3 BRANDS  ·  SAGGY OUTRANK AUDIT  ·  BUILD STATUS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06A5E"/>
                </a:solidFill>
                <a:latin typeface="Menlo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SLIDE 11  ·  ROLLOUT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EFE0"/>
                </a:solidFill>
                <a:latin typeface="Helvetica Neue"/>
              </a:rPr>
              <a:t>Plan vs. reality.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20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2A1210"/>
          </a:solidFill>
          <a:ln w="1524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5623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05A42"/>
                </a:solidFill>
                <a:latin typeface="Menlo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05A42"/>
                </a:solidFill>
                <a:latin typeface="Menlo"/>
              </a:rPr>
              <a:t>STILL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82880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EFE0"/>
                </a:solidFill>
                <a:latin typeface="Helvetica Neue"/>
              </a:rPr>
              <a:t>Stop the leak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94560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B8B0A0"/>
                </a:solidFill>
                <a:latin typeface="Helvetica Neue"/>
              </a:rPr>
              <a:t>Conditional render of sales blocks. Vercel Password Protect on /sales/* + /api/leads/*. NOT YET BUILT.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2A2210"/>
          </a:solidFill>
          <a:ln w="15240">
            <a:solidFill>
              <a:srgbClr val="E2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2A05A"/>
                </a:solidFill>
                <a:latin typeface="Menlo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64408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2A05A"/>
                </a:solidFill>
                <a:latin typeface="Menlo"/>
              </a:rPr>
              <a:t>PARTIAL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260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EFE0"/>
                </a:solidFill>
                <a:latin typeface="Helvetica Neue"/>
              </a:rPr>
              <a:t>Persist + tokenize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291840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B8B0A0"/>
                </a:solidFill>
                <a:latin typeface="Helvetica Neue"/>
              </a:rPr>
              <a:t>/api/leads (POST · GET · PATCH · DELETE) shipped against data/leads.json. Tokenized /r/&lt;token&gt; URLs not yet built. Storage still local-only.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122C1B"/>
          </a:solidFill>
          <a:ln w="1524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5079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7CB342"/>
                </a:solidFill>
                <a:latin typeface="Menlo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61688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CB342"/>
                </a:solidFill>
                <a:latin typeface="Menlo"/>
              </a:rP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02336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EFE0"/>
                </a:solidFill>
                <a:latin typeface="Helvetica Neue"/>
              </a:rPr>
              <a:t>Server-side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389120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B8B0A0"/>
                </a:solidFill>
                <a:latin typeface="Helvetica Neue"/>
              </a:rPr>
              <a:t>Audit moved to /api/audit with Firecrawl LLM scoring, local analyzer fallback, seeded fallback, and 24h disk cache.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83480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2A2210"/>
          </a:solidFill>
          <a:ln w="15240">
            <a:solidFill>
              <a:srgbClr val="E2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4807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2A05A"/>
                </a:solidFill>
                <a:latin typeface="Menlo"/>
              </a:rP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58968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2A05A"/>
                </a:solidFill>
                <a:latin typeface="Menlo"/>
              </a:rPr>
              <a:t>PARTIAL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12064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EFE0"/>
                </a:solidFill>
                <a:latin typeface="Helvetica Neue"/>
              </a:rPr>
              <a:t>Sales tooling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486400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B8B0A0"/>
                </a:solidFill>
                <a:latin typeface="Helvetica Neue"/>
              </a:rPr>
              <a:t>Console dashboard, redesigned lead-detail modal, status workflow (pending · confirmed · cancelled), kebab dropdown shipped. CRM deep-links + activity audit still open.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We went 3 → 4 → ½ of 2 → still need 1. That's fine — but Phase 1 must close before any deploy.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A5E"/>
                </a:solidFill>
                <a:latin typeface="Menlo"/>
              </a:rPr>
              <a:t>A3 BRANDS  ·  SAGGY OUTRANK AUDIT  ·  BUILD STATUS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06A5E"/>
                </a:solidFill>
                <a:latin typeface="Menlo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SLIDE 12  ·  DECISIONS — RESOLVED VS.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EFE0"/>
                </a:solidFill>
                <a:latin typeface="Helvetica Neue"/>
              </a:rPr>
              <a:t>Where each call landed since v1.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20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22C1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7CB342"/>
                </a:solidFill>
                <a:latin typeface="Helvetica Neue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55648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EFE0"/>
                </a:solidFill>
                <a:latin typeface="Helvetica Neue"/>
              </a:rPr>
              <a:t>Hosting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7223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Vercel (Next.js scaffold + .vercelignore in repo).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rgbClr val="122C1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7CB342"/>
                </a:solidFill>
                <a:latin typeface="Helvetica Neue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8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EFE0"/>
                </a:solidFill>
                <a:latin typeface="Helvetica Neue"/>
              </a:rPr>
              <a:t>Audit scoring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96312"/>
            <a:ext cx="7223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Firecrawl /v2/scrape · json extract (LLM-rated).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163824"/>
            <a:ext cx="457200" cy="457200"/>
          </a:xfrm>
          <a:prstGeom prst="ellipse">
            <a:avLst/>
          </a:prstGeom>
          <a:solidFill>
            <a:srgbClr val="122C1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63824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7CB342"/>
                </a:solidFill>
                <a:latin typeface="Helvetica Neue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18211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EFE0"/>
                </a:solidFill>
                <a:latin typeface="Helvetica Neue"/>
              </a:rPr>
              <a:t>Local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9544"/>
            <a:ext cx="7223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JSON files in data/ — dev only. Supabase before deploy.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rgbClr val="122C1B"/>
          </a:solidFill>
          <a:ln w="12700">
            <a:solidFill>
              <a:srgbClr val="E2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77056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E2A05A"/>
                </a:solidFill>
                <a:latin typeface="Helvetica Neue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95344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EFE0"/>
                </a:solidFill>
                <a:latin typeface="Helvetica Neue"/>
              </a:rPr>
              <a:t>Sales auth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22776"/>
            <a:ext cx="7223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Still open — Google Workspace likely candidate.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122C1B"/>
          </a:solidFill>
          <a:ln w="12700">
            <a:solidFill>
              <a:srgbClr val="E2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E2A05A"/>
                </a:solidFill>
                <a:latin typeface="Helvetica Neue"/>
              </a:rPr>
              <a:t>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08576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EFE0"/>
                </a:solidFill>
                <a:latin typeface="Helvetica Neue"/>
              </a:rPr>
              <a:t>Lead-link sharing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636008"/>
            <a:ext cx="7223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Still open — forwardable vs one-time-use.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122C1B"/>
          </a:solidFill>
          <a:ln w="12700">
            <a:solidFill>
              <a:srgbClr val="E2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E2A05A"/>
                </a:solidFill>
                <a:latin typeface="Helvetica Neue"/>
              </a:rPr>
              <a:t>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21808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EFE0"/>
                </a:solidFill>
                <a:latin typeface="Helvetica Neue"/>
              </a:rPr>
              <a:t>Email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349240"/>
            <a:ext cx="7223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Still open — GHL webhook placeholder is firing; no transactional sender.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B8B0A0"/>
                </a:solidFill>
                <a:latin typeface="Helvetica Neue"/>
              </a:rPr>
              <a:t>Three resolved, three open. None of the open ones blocks Phase 1.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A5E"/>
                </a:solidFill>
                <a:latin typeface="Menlo"/>
              </a:rPr>
              <a:t>A3 BRANDS  ·  SAGGY OUTRANK AUDIT  ·  BUILD STATUS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06A5E"/>
                </a:solidFill>
                <a:latin typeface="Menlo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B342"/>
                </a:solidFill>
                <a:latin typeface="Menlo"/>
              </a:rPr>
              <a:t>SLIDE 13  ·  SCOPE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EFE0"/>
                </a:solidFill>
                <a:latin typeface="Helvetica Neue"/>
              </a:rPr>
              <a:t>Still NOT building.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20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762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E05A42"/>
                </a:solidFill>
                <a:latin typeface="Helvetica Neue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38528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EFE0"/>
                </a:solidFill>
                <a:latin typeface="Helvetica Neue"/>
              </a:rPr>
              <a:t>Full RBAC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993392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B8B0A0"/>
                </a:solidFill>
                <a:latin typeface="Helvetica Neue"/>
              </a:rPr>
              <a:t>Two roles — lead, sales. Hardcode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762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E05A42"/>
                </a:solidFill>
                <a:latin typeface="Helvetica Neue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98648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EFE0"/>
                </a:solidFill>
                <a:latin typeface="Helvetica Neue"/>
              </a:rPr>
              <a:t>Admin UI for editing 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53512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B8B0A0"/>
                </a:solidFill>
                <a:latin typeface="Helvetica Neue"/>
              </a:rPr>
              <a:t>GHL / the CRM owns follow-up content.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4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762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13632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E05A42"/>
                </a:solidFill>
                <a:latin typeface="Helvetica Neue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58768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EFE0"/>
                </a:solidFill>
                <a:latin typeface="Helvetica Neue"/>
              </a:rPr>
              <a:t>Real-time updates / websockets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913632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B8B0A0"/>
                </a:solidFill>
                <a:latin typeface="Helvetica Neue"/>
              </a:rPr>
              <a:t>Reports are point-in-time snapshots.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7620">
            <a:solidFill>
              <a:srgbClr val="E05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73752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E05A42"/>
                </a:solidFill>
                <a:latin typeface="Helvetica Neue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818888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EFE0"/>
                </a:solidFill>
                <a:latin typeface="Helvetica Neue"/>
              </a:rPr>
              <a:t>Multi-tenant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873752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B8B0A0"/>
                </a:solidFill>
                <a:latin typeface="Helvetica Neue"/>
              </a:rPr>
              <a:t>One agency, one workspace. Don't pretend to be a SaaS yet.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8B0A0"/>
                </a:solidFill>
                <a:latin typeface="Helvetica Neue"/>
              </a:rPr>
              <a:t>Every 'no' here buys engineering time for Phase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A5E"/>
                </a:solidFill>
                <a:latin typeface="Menlo"/>
              </a:rPr>
              <a:t>A3 BRANDS  ·  SAGGY OUTRANK AUDIT  ·  BUILD STATUS 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06A5E"/>
                </a:solidFill>
                <a:latin typeface="Menlo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7CB342"/>
                </a:solidFill>
                <a:latin typeface="Menlo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5EFE0"/>
                </a:solidFill>
                <a:latin typeface="Helvetica Neue"/>
              </a:rPr>
              <a:t>Backfill Phase 1 before any deploy.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7CB342"/>
                </a:solidFill>
                <a:latin typeface="Menlo"/>
              </a:rPr>
              <a:t>→  </a:t>
            </a:r>
            <a:r>
              <a:rPr sz="1600">
                <a:solidFill>
                  <a:srgbClr val="B8B0A0"/>
                </a:solidFill>
                <a:latin typeface="Helvetica Neue"/>
              </a:rPr>
              <a:t>Wrap /sales/* and /api/leads/* behind Vercel Password Protect (Google SSO).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7CB342"/>
                </a:solidFill>
                <a:latin typeface="Menlo"/>
              </a:rPr>
              <a:t>→  </a:t>
            </a:r>
            <a:r>
              <a:rPr sz="1600">
                <a:solidFill>
                  <a:srgbClr val="B8B0A0"/>
                </a:solidFill>
                <a:latin typeface="Helvetica Neue"/>
              </a:rPr>
              <a:t>Split GET /api/leads into a lead-narrow + sales-full endpoint pair.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7CB342"/>
                </a:solidFill>
                <a:latin typeface="Menlo"/>
              </a:rPr>
              <a:t>→  </a:t>
            </a:r>
            <a:r>
              <a:rPr sz="1600">
                <a:solidFill>
                  <a:srgbClr val="B8B0A0"/>
                </a:solidFill>
                <a:latin typeface="Helvetica Neue"/>
              </a:rPr>
              <a:t>Stop rendering sales-only HTML in the lead browser — server-side conditional.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7CB342"/>
                </a:solidFill>
                <a:latin typeface="Menlo"/>
              </a:rPr>
              <a:t>→  </a:t>
            </a:r>
            <a:r>
              <a:rPr sz="1600">
                <a:solidFill>
                  <a:srgbClr val="B8B0A0"/>
                </a:solidFill>
                <a:latin typeface="Helvetica Neue"/>
              </a:rPr>
              <a:t>Then ship Phase 2 properly: Supabase replaces the JSON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06A5E"/>
                </a:solidFill>
                <a:latin typeface="Helvetica Neue"/>
              </a:rPr>
              <a:t>Everything above can land in one short PR + an env-var change. No new packages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852160"/>
            <a:ext cx="5486400" cy="640080"/>
          </a:xfrm>
          <a:prstGeom prst="roundRect">
            <a:avLst>
              <a:gd name="adj" fmla="val 6000"/>
            </a:avLst>
          </a:prstGeom>
          <a:solidFill>
            <a:srgbClr val="102416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7CB342"/>
                </a:solidFill>
                <a:latin typeface="Helvetica Neue"/>
              </a:rPr>
              <a:t>Approve Phase 1  →  ship before any external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